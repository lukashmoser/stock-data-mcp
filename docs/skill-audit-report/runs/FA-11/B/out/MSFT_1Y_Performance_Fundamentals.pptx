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MSFT (+5.9%)</c:v>
                </c:pt>
              </c:strCache>
            </c:strRef>
          </c:tx>
          <c:spPr>
            <a:ln w="34925">
              <a:solidFill>
                <a:srgbClr val="1F6FB2"/>
              </a:solidFill>
            </a:ln>
          </c:spPr>
          <c:marker>
            <c:symbol val="none"/>
          </c:marker>
          <c:cat>
            <c:strRef>
              <c:f>Sheet1!$A$2:$A$54</c:f>
              <c:strCache>
                <c:ptCount val="53"/>
                <c:pt idx="0">
                  <c:v>2025-10-13</c:v>
                </c:pt>
                <c:pt idx="1">
                  <c:v>2025-10-20</c:v>
                </c:pt>
                <c:pt idx="2">
                  <c:v>2025-10-27</c:v>
                </c:pt>
                <c:pt idx="3">
                  <c:v>2025-11-03</c:v>
                </c:pt>
                <c:pt idx="4">
                  <c:v>2025-11-10</c:v>
                </c:pt>
                <c:pt idx="5">
                  <c:v>2025-11-17</c:v>
                </c:pt>
                <c:pt idx="6">
                  <c:v>2025-11-24</c:v>
                </c:pt>
                <c:pt idx="7">
                  <c:v>2025-12-01</c:v>
                </c:pt>
                <c:pt idx="8">
                  <c:v>2025-12-08</c:v>
                </c:pt>
                <c:pt idx="9">
                  <c:v>2025-12-15</c:v>
                </c:pt>
                <c:pt idx="10">
                  <c:v>2025-12-22</c:v>
                </c:pt>
                <c:pt idx="11">
                  <c:v>2025-12-29</c:v>
                </c:pt>
                <c:pt idx="12">
                  <c:v>2026-01-05</c:v>
                </c:pt>
                <c:pt idx="13">
                  <c:v>2026-01-12</c:v>
                </c:pt>
                <c:pt idx="14">
                  <c:v>2026-01-19</c:v>
                </c:pt>
                <c:pt idx="15">
                  <c:v>2026-01-26</c:v>
                </c:pt>
                <c:pt idx="16">
                  <c:v>2026-02-02</c:v>
                </c:pt>
                <c:pt idx="17">
                  <c:v>2026-02-09</c:v>
                </c:pt>
                <c:pt idx="18">
                  <c:v>2026-02-16</c:v>
                </c:pt>
                <c:pt idx="19">
                  <c:v>2026-02-23</c:v>
                </c:pt>
                <c:pt idx="20">
                  <c:v>2026-03-02</c:v>
                </c:pt>
                <c:pt idx="21">
                  <c:v>2026-03-09</c:v>
                </c:pt>
                <c:pt idx="22">
                  <c:v>2026-03-16</c:v>
                </c:pt>
                <c:pt idx="23">
                  <c:v>2026-03-23</c:v>
                </c:pt>
                <c:pt idx="24">
                  <c:v>2026-03-30</c:v>
                </c:pt>
                <c:pt idx="25">
                  <c:v>2026-04-06</c:v>
                </c:pt>
                <c:pt idx="26">
                  <c:v>2026-04-13</c:v>
                </c:pt>
                <c:pt idx="27">
                  <c:v>2026-04-20</c:v>
                </c:pt>
                <c:pt idx="28">
                  <c:v>2026-04-27</c:v>
                </c:pt>
                <c:pt idx="29">
                  <c:v>2026-05-04</c:v>
                </c:pt>
                <c:pt idx="30">
                  <c:v>2026-05-11</c:v>
                </c:pt>
                <c:pt idx="31">
                  <c:v>2026-05-18</c:v>
                </c:pt>
                <c:pt idx="32">
                  <c:v>2026-05-25</c:v>
                </c:pt>
                <c:pt idx="33">
                  <c:v>2026-06-01</c:v>
                </c:pt>
                <c:pt idx="34">
                  <c:v>2026-06-08</c:v>
                </c:pt>
                <c:pt idx="35">
                  <c:v>2026-06-15</c:v>
                </c:pt>
                <c:pt idx="36">
                  <c:v>2026-06-22</c:v>
                </c:pt>
                <c:pt idx="37">
                  <c:v>2026-06-29</c:v>
                </c:pt>
                <c:pt idx="38">
                  <c:v>2026-07-06</c:v>
                </c:pt>
                <c:pt idx="39">
                  <c:v>2026-07-13</c:v>
                </c:pt>
                <c:pt idx="40">
                  <c:v>2026-07-20</c:v>
                </c:pt>
                <c:pt idx="41">
                  <c:v>2026-07-27</c:v>
                </c:pt>
                <c:pt idx="42">
                  <c:v>2026-08-03</c:v>
                </c:pt>
                <c:pt idx="43">
                  <c:v>2026-08-10</c:v>
                </c:pt>
                <c:pt idx="44">
                  <c:v>2026-08-17</c:v>
                </c:pt>
                <c:pt idx="45">
                  <c:v>2026-08-24</c:v>
                </c:pt>
                <c:pt idx="46">
                  <c:v>2026-08-31</c:v>
                </c:pt>
                <c:pt idx="47">
                  <c:v>2026-09-07</c:v>
                </c:pt>
                <c:pt idx="48">
                  <c:v>2026-09-14</c:v>
                </c:pt>
                <c:pt idx="49">
                  <c:v>2026-09-21</c:v>
                </c:pt>
                <c:pt idx="50">
                  <c:v>2026-09-28</c:v>
                </c:pt>
                <c:pt idx="51">
                  <c:v>2026-10-05</c:v>
                </c:pt>
                <c:pt idx="52">
                  <c:v>2026-10-12</c:v>
                </c:pt>
              </c:strCache>
            </c:strRef>
          </c:cat>
          <c:val>
            <c:numRef>
              <c:f>Sheet1!$B$2:$B$54</c:f>
              <c:numCache>
                <c:formatCode>General</c:formatCode>
                <c:ptCount val="53"/>
                <c:pt idx="0">
                  <c:v>100.0</c:v>
                </c:pt>
                <c:pt idx="1">
                  <c:v>101.95</c:v>
                </c:pt>
                <c:pt idx="2">
                  <c:v>100.82</c:v>
                </c:pt>
                <c:pt idx="3">
                  <c:v>96.74</c:v>
                </c:pt>
                <c:pt idx="4">
                  <c:v>99.34</c:v>
                </c:pt>
                <c:pt idx="5">
                  <c:v>92.1</c:v>
                </c:pt>
                <c:pt idx="6">
                  <c:v>95.98</c:v>
                </c:pt>
                <c:pt idx="7">
                  <c:v>94.25</c:v>
                </c:pt>
                <c:pt idx="8">
                  <c:v>93.35</c:v>
                </c:pt>
                <c:pt idx="9">
                  <c:v>94.79</c:v>
                </c:pt>
                <c:pt idx="10">
                  <c:v>95.14</c:v>
                </c:pt>
                <c:pt idx="11">
                  <c:v>92.26</c:v>
                </c:pt>
                <c:pt idx="12">
                  <c:v>93.5</c:v>
                </c:pt>
                <c:pt idx="13">
                  <c:v>89.71</c:v>
                </c:pt>
                <c:pt idx="14">
                  <c:v>90.89</c:v>
                </c:pt>
                <c:pt idx="15">
                  <c:v>83.94</c:v>
                </c:pt>
                <c:pt idx="16">
                  <c:v>78.25</c:v>
                </c:pt>
                <c:pt idx="17">
                  <c:v>78.29</c:v>
                </c:pt>
                <c:pt idx="18">
                  <c:v>77.67</c:v>
                </c:pt>
                <c:pt idx="19">
                  <c:v>76.79</c:v>
                </c:pt>
                <c:pt idx="20">
                  <c:v>79.96</c:v>
                </c:pt>
                <c:pt idx="21">
                  <c:v>77.34</c:v>
                </c:pt>
                <c:pt idx="22">
                  <c:v>74.66</c:v>
                </c:pt>
                <c:pt idx="23">
                  <c:v>69.76</c:v>
                </c:pt>
                <c:pt idx="24">
                  <c:v>73.02</c:v>
                </c:pt>
                <c:pt idx="25">
                  <c:v>72.51</c:v>
                </c:pt>
                <c:pt idx="26">
                  <c:v>82.66</c:v>
                </c:pt>
                <c:pt idx="27">
                  <c:v>83.02</c:v>
                </c:pt>
                <c:pt idx="28">
                  <c:v>81.03</c:v>
                </c:pt>
                <c:pt idx="29">
                  <c:v>81.16</c:v>
                </c:pt>
                <c:pt idx="30">
                  <c:v>82.49</c:v>
                </c:pt>
                <c:pt idx="31">
                  <c:v>82.02</c:v>
                </c:pt>
                <c:pt idx="32">
                  <c:v>88.22</c:v>
                </c:pt>
                <c:pt idx="33">
                  <c:v>81.64</c:v>
                </c:pt>
                <c:pt idx="34">
                  <c:v>76.56</c:v>
                </c:pt>
                <c:pt idx="35">
                  <c:v>74.34</c:v>
                </c:pt>
                <c:pt idx="36">
                  <c:v>73.08</c:v>
                </c:pt>
                <c:pt idx="37">
                  <c:v>76.52</c:v>
                </c:pt>
                <c:pt idx="38">
                  <c:v>75.46</c:v>
                </c:pt>
                <c:pt idx="39">
                  <c:v>77.17</c:v>
                </c:pt>
                <c:pt idx="40">
                  <c:v>74.79</c:v>
                </c:pt>
                <c:pt idx="41">
                  <c:v>91.06</c:v>
                </c:pt>
                <c:pt idx="42">
                  <c:v>97.97</c:v>
                </c:pt>
                <c:pt idx="43">
                  <c:v>97.07</c:v>
                </c:pt>
                <c:pt idx="44">
                  <c:v>94.87</c:v>
                </c:pt>
                <c:pt idx="45">
                  <c:v>100.81</c:v>
                </c:pt>
                <c:pt idx="46">
                  <c:v>98.1</c:v>
                </c:pt>
                <c:pt idx="47">
                  <c:v>97.3</c:v>
                </c:pt>
                <c:pt idx="48">
                  <c:v>96.94</c:v>
                </c:pt>
                <c:pt idx="49">
                  <c:v>101.33</c:v>
                </c:pt>
                <c:pt idx="50">
                  <c:v>101.6</c:v>
                </c:pt>
                <c:pt idx="51">
                  <c:v>105.04</c:v>
                </c:pt>
                <c:pt idx="52">
                  <c:v>105.9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QQQ (+21.1%)</c:v>
                </c:pt>
              </c:strCache>
            </c:strRef>
          </c:tx>
          <c:spPr>
            <a:ln w="25400">
              <a:solidFill>
                <a:srgbClr val="E07A1F"/>
              </a:solidFill>
            </a:ln>
          </c:spPr>
          <c:marker>
            <c:symbol val="none"/>
          </c:marker>
          <c:cat>
            <c:strRef>
              <c:f>Sheet1!$A$2:$A$54</c:f>
              <c:strCache>
                <c:ptCount val="53"/>
                <c:pt idx="0">
                  <c:v>2025-10-13</c:v>
                </c:pt>
                <c:pt idx="1">
                  <c:v>2025-10-20</c:v>
                </c:pt>
                <c:pt idx="2">
                  <c:v>2025-10-27</c:v>
                </c:pt>
                <c:pt idx="3">
                  <c:v>2025-11-03</c:v>
                </c:pt>
                <c:pt idx="4">
                  <c:v>2025-11-10</c:v>
                </c:pt>
                <c:pt idx="5">
                  <c:v>2025-11-17</c:v>
                </c:pt>
                <c:pt idx="6">
                  <c:v>2025-11-24</c:v>
                </c:pt>
                <c:pt idx="7">
                  <c:v>2025-12-01</c:v>
                </c:pt>
                <c:pt idx="8">
                  <c:v>2025-12-08</c:v>
                </c:pt>
                <c:pt idx="9">
                  <c:v>2025-12-15</c:v>
                </c:pt>
                <c:pt idx="10">
                  <c:v>2025-12-22</c:v>
                </c:pt>
                <c:pt idx="11">
                  <c:v>2025-12-29</c:v>
                </c:pt>
                <c:pt idx="12">
                  <c:v>2026-01-05</c:v>
                </c:pt>
                <c:pt idx="13">
                  <c:v>2026-01-12</c:v>
                </c:pt>
                <c:pt idx="14">
                  <c:v>2026-01-19</c:v>
                </c:pt>
                <c:pt idx="15">
                  <c:v>2026-01-26</c:v>
                </c:pt>
                <c:pt idx="16">
                  <c:v>2026-02-02</c:v>
                </c:pt>
                <c:pt idx="17">
                  <c:v>2026-02-09</c:v>
                </c:pt>
                <c:pt idx="18">
                  <c:v>2026-02-16</c:v>
                </c:pt>
                <c:pt idx="19">
                  <c:v>2026-02-23</c:v>
                </c:pt>
                <c:pt idx="20">
                  <c:v>2026-03-02</c:v>
                </c:pt>
                <c:pt idx="21">
                  <c:v>2026-03-09</c:v>
                </c:pt>
                <c:pt idx="22">
                  <c:v>2026-03-16</c:v>
                </c:pt>
                <c:pt idx="23">
                  <c:v>2026-03-23</c:v>
                </c:pt>
                <c:pt idx="24">
                  <c:v>2026-03-30</c:v>
                </c:pt>
                <c:pt idx="25">
                  <c:v>2026-04-06</c:v>
                </c:pt>
                <c:pt idx="26">
                  <c:v>2026-04-13</c:v>
                </c:pt>
                <c:pt idx="27">
                  <c:v>2026-04-20</c:v>
                </c:pt>
                <c:pt idx="28">
                  <c:v>2026-04-27</c:v>
                </c:pt>
                <c:pt idx="29">
                  <c:v>2026-05-04</c:v>
                </c:pt>
                <c:pt idx="30">
                  <c:v>2026-05-11</c:v>
                </c:pt>
                <c:pt idx="31">
                  <c:v>2026-05-18</c:v>
                </c:pt>
                <c:pt idx="32">
                  <c:v>2026-05-25</c:v>
                </c:pt>
                <c:pt idx="33">
                  <c:v>2026-06-01</c:v>
                </c:pt>
                <c:pt idx="34">
                  <c:v>2026-06-08</c:v>
                </c:pt>
                <c:pt idx="35">
                  <c:v>2026-06-15</c:v>
                </c:pt>
                <c:pt idx="36">
                  <c:v>2026-06-22</c:v>
                </c:pt>
                <c:pt idx="37">
                  <c:v>2026-06-29</c:v>
                </c:pt>
                <c:pt idx="38">
                  <c:v>2026-07-06</c:v>
                </c:pt>
                <c:pt idx="39">
                  <c:v>2026-07-13</c:v>
                </c:pt>
                <c:pt idx="40">
                  <c:v>2026-07-20</c:v>
                </c:pt>
                <c:pt idx="41">
                  <c:v>2026-07-27</c:v>
                </c:pt>
                <c:pt idx="42">
                  <c:v>2026-08-03</c:v>
                </c:pt>
                <c:pt idx="43">
                  <c:v>2026-08-10</c:v>
                </c:pt>
                <c:pt idx="44">
                  <c:v>2026-08-17</c:v>
                </c:pt>
                <c:pt idx="45">
                  <c:v>2026-08-24</c:v>
                </c:pt>
                <c:pt idx="46">
                  <c:v>2026-08-31</c:v>
                </c:pt>
                <c:pt idx="47">
                  <c:v>2026-09-07</c:v>
                </c:pt>
                <c:pt idx="48">
                  <c:v>2026-09-14</c:v>
                </c:pt>
                <c:pt idx="49">
                  <c:v>2026-09-21</c:v>
                </c:pt>
                <c:pt idx="50">
                  <c:v>2026-09-28</c:v>
                </c:pt>
                <c:pt idx="51">
                  <c:v>2026-10-05</c:v>
                </c:pt>
                <c:pt idx="52">
                  <c:v>2026-10-12</c:v>
                </c:pt>
              </c:strCache>
            </c:strRef>
          </c:cat>
          <c:val>
            <c:numRef>
              <c:f>Sheet1!$C$2:$C$54</c:f>
              <c:numCache>
                <c:formatCode>General</c:formatCode>
                <c:ptCount val="53"/>
                <c:pt idx="0">
                  <c:v>100.0</c:v>
                </c:pt>
                <c:pt idx="1">
                  <c:v>102.18</c:v>
                </c:pt>
                <c:pt idx="2">
                  <c:v>104.16</c:v>
                </c:pt>
                <c:pt idx="3">
                  <c:v>100.96</c:v>
                </c:pt>
                <c:pt idx="4">
                  <c:v>100.82</c:v>
                </c:pt>
                <c:pt idx="5">
                  <c:v>97.7</c:v>
                </c:pt>
                <c:pt idx="6">
                  <c:v>102.54</c:v>
                </c:pt>
                <c:pt idx="7">
                  <c:v>103.57</c:v>
                </c:pt>
                <c:pt idx="8">
                  <c:v>101.6</c:v>
                </c:pt>
                <c:pt idx="9">
                  <c:v>102.17</c:v>
                </c:pt>
                <c:pt idx="10">
                  <c:v>103.44</c:v>
                </c:pt>
                <c:pt idx="11">
                  <c:v>101.65</c:v>
                </c:pt>
                <c:pt idx="12">
                  <c:v>103.89</c:v>
                </c:pt>
                <c:pt idx="13">
                  <c:v>103.0</c:v>
                </c:pt>
                <c:pt idx="14">
                  <c:v>103.24</c:v>
                </c:pt>
                <c:pt idx="15">
                  <c:v>103.1</c:v>
                </c:pt>
                <c:pt idx="16">
                  <c:v>101.08</c:v>
                </c:pt>
                <c:pt idx="17">
                  <c:v>99.8</c:v>
                </c:pt>
                <c:pt idx="18">
                  <c:v>100.94</c:v>
                </c:pt>
                <c:pt idx="19">
                  <c:v>100.69</c:v>
                </c:pt>
                <c:pt idx="20">
                  <c:v>99.43</c:v>
                </c:pt>
                <c:pt idx="21">
                  <c:v>98.43</c:v>
                </c:pt>
                <c:pt idx="22">
                  <c:v>96.5</c:v>
                </c:pt>
                <c:pt idx="23">
                  <c:v>93.39</c:v>
                </c:pt>
                <c:pt idx="24">
                  <c:v>97.11</c:v>
                </c:pt>
                <c:pt idx="25">
                  <c:v>101.44</c:v>
                </c:pt>
                <c:pt idx="26">
                  <c:v>107.71</c:v>
                </c:pt>
                <c:pt idx="27">
                  <c:v>110.21</c:v>
                </c:pt>
                <c:pt idx="28">
                  <c:v>111.91</c:v>
                </c:pt>
                <c:pt idx="29">
                  <c:v>118.07</c:v>
                </c:pt>
                <c:pt idx="30">
                  <c:v>117.68</c:v>
                </c:pt>
                <c:pt idx="31">
                  <c:v>119.11</c:v>
                </c:pt>
                <c:pt idx="32">
                  <c:v>122.56</c:v>
                </c:pt>
                <c:pt idx="33">
                  <c:v>117.04</c:v>
                </c:pt>
                <c:pt idx="34">
                  <c:v>119.75</c:v>
                </c:pt>
                <c:pt idx="35">
                  <c:v>122.95</c:v>
                </c:pt>
                <c:pt idx="36">
                  <c:v>117.41</c:v>
                </c:pt>
                <c:pt idx="37">
                  <c:v>118.42</c:v>
                </c:pt>
                <c:pt idx="38">
                  <c:v>120.57</c:v>
                </c:pt>
                <c:pt idx="39">
                  <c:v>115.55</c:v>
                </c:pt>
                <c:pt idx="40">
                  <c:v>113.71</c:v>
                </c:pt>
                <c:pt idx="41">
                  <c:v>114.33</c:v>
                </c:pt>
                <c:pt idx="42">
                  <c:v>120.16</c:v>
                </c:pt>
                <c:pt idx="43">
                  <c:v>121.49</c:v>
                </c:pt>
                <c:pt idx="44">
                  <c:v>118.56</c:v>
                </c:pt>
                <c:pt idx="45">
                  <c:v>119.06</c:v>
                </c:pt>
                <c:pt idx="46">
                  <c:v>119.48</c:v>
                </c:pt>
                <c:pt idx="47">
                  <c:v>118.8</c:v>
                </c:pt>
                <c:pt idx="48">
                  <c:v>119.89</c:v>
                </c:pt>
                <c:pt idx="49">
                  <c:v>123.85</c:v>
                </c:pt>
                <c:pt idx="50">
                  <c:v>124.7</c:v>
                </c:pt>
                <c:pt idx="51">
                  <c:v>124.98</c:v>
                </c:pt>
                <c:pt idx="52">
                  <c:v>121.11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XLK (+33.4%)</c:v>
                </c:pt>
              </c:strCache>
            </c:strRef>
          </c:tx>
          <c:spPr>
            <a:ln w="25400">
              <a:solidFill>
                <a:srgbClr val="7F8C99"/>
              </a:solidFill>
            </a:ln>
          </c:spPr>
          <c:marker>
            <c:symbol val="none"/>
          </c:marker>
          <c:cat>
            <c:strRef>
              <c:f>Sheet1!$A$2:$A$54</c:f>
              <c:strCache>
                <c:ptCount val="53"/>
                <c:pt idx="0">
                  <c:v>2025-10-13</c:v>
                </c:pt>
                <c:pt idx="1">
                  <c:v>2025-10-20</c:v>
                </c:pt>
                <c:pt idx="2">
                  <c:v>2025-10-27</c:v>
                </c:pt>
                <c:pt idx="3">
                  <c:v>2025-11-03</c:v>
                </c:pt>
                <c:pt idx="4">
                  <c:v>2025-11-10</c:v>
                </c:pt>
                <c:pt idx="5">
                  <c:v>2025-11-17</c:v>
                </c:pt>
                <c:pt idx="6">
                  <c:v>2025-11-24</c:v>
                </c:pt>
                <c:pt idx="7">
                  <c:v>2025-12-01</c:v>
                </c:pt>
                <c:pt idx="8">
                  <c:v>2025-12-08</c:v>
                </c:pt>
                <c:pt idx="9">
                  <c:v>2025-12-15</c:v>
                </c:pt>
                <c:pt idx="10">
                  <c:v>2025-12-22</c:v>
                </c:pt>
                <c:pt idx="11">
                  <c:v>2025-12-29</c:v>
                </c:pt>
                <c:pt idx="12">
                  <c:v>2026-01-05</c:v>
                </c:pt>
                <c:pt idx="13">
                  <c:v>2026-01-12</c:v>
                </c:pt>
                <c:pt idx="14">
                  <c:v>2026-01-19</c:v>
                </c:pt>
                <c:pt idx="15">
                  <c:v>2026-01-26</c:v>
                </c:pt>
                <c:pt idx="16">
                  <c:v>2026-02-02</c:v>
                </c:pt>
                <c:pt idx="17">
                  <c:v>2026-02-09</c:v>
                </c:pt>
                <c:pt idx="18">
                  <c:v>2026-02-16</c:v>
                </c:pt>
                <c:pt idx="19">
                  <c:v>2026-02-23</c:v>
                </c:pt>
                <c:pt idx="20">
                  <c:v>2026-03-02</c:v>
                </c:pt>
                <c:pt idx="21">
                  <c:v>2026-03-09</c:v>
                </c:pt>
                <c:pt idx="22">
                  <c:v>2026-03-16</c:v>
                </c:pt>
                <c:pt idx="23">
                  <c:v>2026-03-23</c:v>
                </c:pt>
                <c:pt idx="24">
                  <c:v>2026-03-30</c:v>
                </c:pt>
                <c:pt idx="25">
                  <c:v>2026-04-06</c:v>
                </c:pt>
                <c:pt idx="26">
                  <c:v>2026-04-13</c:v>
                </c:pt>
                <c:pt idx="27">
                  <c:v>2026-04-20</c:v>
                </c:pt>
                <c:pt idx="28">
                  <c:v>2026-04-27</c:v>
                </c:pt>
                <c:pt idx="29">
                  <c:v>2026-05-04</c:v>
                </c:pt>
                <c:pt idx="30">
                  <c:v>2026-05-11</c:v>
                </c:pt>
                <c:pt idx="31">
                  <c:v>2026-05-18</c:v>
                </c:pt>
                <c:pt idx="32">
                  <c:v>2026-05-25</c:v>
                </c:pt>
                <c:pt idx="33">
                  <c:v>2026-06-01</c:v>
                </c:pt>
                <c:pt idx="34">
                  <c:v>2026-06-08</c:v>
                </c:pt>
                <c:pt idx="35">
                  <c:v>2026-06-15</c:v>
                </c:pt>
                <c:pt idx="36">
                  <c:v>2026-06-22</c:v>
                </c:pt>
                <c:pt idx="37">
                  <c:v>2026-06-29</c:v>
                </c:pt>
                <c:pt idx="38">
                  <c:v>2026-07-06</c:v>
                </c:pt>
                <c:pt idx="39">
                  <c:v>2026-07-13</c:v>
                </c:pt>
                <c:pt idx="40">
                  <c:v>2026-07-20</c:v>
                </c:pt>
                <c:pt idx="41">
                  <c:v>2026-07-27</c:v>
                </c:pt>
                <c:pt idx="42">
                  <c:v>2026-08-03</c:v>
                </c:pt>
                <c:pt idx="43">
                  <c:v>2026-08-10</c:v>
                </c:pt>
                <c:pt idx="44">
                  <c:v>2026-08-17</c:v>
                </c:pt>
                <c:pt idx="45">
                  <c:v>2026-08-24</c:v>
                </c:pt>
                <c:pt idx="46">
                  <c:v>2026-08-31</c:v>
                </c:pt>
                <c:pt idx="47">
                  <c:v>2026-09-07</c:v>
                </c:pt>
                <c:pt idx="48">
                  <c:v>2026-09-14</c:v>
                </c:pt>
                <c:pt idx="49">
                  <c:v>2026-09-21</c:v>
                </c:pt>
                <c:pt idx="50">
                  <c:v>2026-09-28</c:v>
                </c:pt>
                <c:pt idx="51">
                  <c:v>2026-10-05</c:v>
                </c:pt>
                <c:pt idx="52">
                  <c:v>2026-10-12</c:v>
                </c:pt>
              </c:strCache>
            </c:strRef>
          </c:cat>
          <c:val>
            <c:numRef>
              <c:f>Sheet1!$D$2:$D$54</c:f>
              <c:numCache>
                <c:formatCode>General</c:formatCode>
                <c:ptCount val="53"/>
                <c:pt idx="0">
                  <c:v>100.0</c:v>
                </c:pt>
                <c:pt idx="1">
                  <c:v>103.0</c:v>
                </c:pt>
                <c:pt idx="2">
                  <c:v>105.49</c:v>
                </c:pt>
                <c:pt idx="3">
                  <c:v>101.1</c:v>
                </c:pt>
                <c:pt idx="4">
                  <c:v>101.1</c:v>
                </c:pt>
                <c:pt idx="5">
                  <c:v>95.85</c:v>
                </c:pt>
                <c:pt idx="6">
                  <c:v>100.42</c:v>
                </c:pt>
                <c:pt idx="7">
                  <c:v>102.87</c:v>
                </c:pt>
                <c:pt idx="8">
                  <c:v>100.83</c:v>
                </c:pt>
                <c:pt idx="9">
                  <c:v>101.47</c:v>
                </c:pt>
                <c:pt idx="10">
                  <c:v>102.98</c:v>
                </c:pt>
                <c:pt idx="11">
                  <c:v>101.41</c:v>
                </c:pt>
                <c:pt idx="12">
                  <c:v>102.71</c:v>
                </c:pt>
                <c:pt idx="13">
                  <c:v>102.34</c:v>
                </c:pt>
                <c:pt idx="14">
                  <c:v>101.97</c:v>
                </c:pt>
                <c:pt idx="15">
                  <c:v>101.11</c:v>
                </c:pt>
                <c:pt idx="16">
                  <c:v>99.18</c:v>
                </c:pt>
                <c:pt idx="17">
                  <c:v>98.08</c:v>
                </c:pt>
                <c:pt idx="18">
                  <c:v>99.01</c:v>
                </c:pt>
                <c:pt idx="19">
                  <c:v>97.52</c:v>
                </c:pt>
                <c:pt idx="20">
                  <c:v>96.49</c:v>
                </c:pt>
                <c:pt idx="21">
                  <c:v>96.14</c:v>
                </c:pt>
                <c:pt idx="22">
                  <c:v>95.08</c:v>
                </c:pt>
                <c:pt idx="23">
                  <c:v>91.42</c:v>
                </c:pt>
                <c:pt idx="24">
                  <c:v>95.69</c:v>
                </c:pt>
                <c:pt idx="25">
                  <c:v>100.35</c:v>
                </c:pt>
                <c:pt idx="26">
                  <c:v>108.61</c:v>
                </c:pt>
                <c:pt idx="27">
                  <c:v>112.74</c:v>
                </c:pt>
                <c:pt idx="28">
                  <c:v>113.9</c:v>
                </c:pt>
                <c:pt idx="29">
                  <c:v>123.51</c:v>
                </c:pt>
                <c:pt idx="30">
                  <c:v>124.02</c:v>
                </c:pt>
                <c:pt idx="31">
                  <c:v>126.94</c:v>
                </c:pt>
                <c:pt idx="32">
                  <c:v>134.41</c:v>
                </c:pt>
                <c:pt idx="33">
                  <c:v>126.87</c:v>
                </c:pt>
                <c:pt idx="34">
                  <c:v>130.03</c:v>
                </c:pt>
                <c:pt idx="35">
                  <c:v>134.71</c:v>
                </c:pt>
                <c:pt idx="36">
                  <c:v>127.59</c:v>
                </c:pt>
                <c:pt idx="37">
                  <c:v>127.23</c:v>
                </c:pt>
                <c:pt idx="38">
                  <c:v>130.88</c:v>
                </c:pt>
                <c:pt idx="39">
                  <c:v>123.71</c:v>
                </c:pt>
                <c:pt idx="40">
                  <c:v>123.9</c:v>
                </c:pt>
                <c:pt idx="41">
                  <c:v>123.54</c:v>
                </c:pt>
                <c:pt idx="42">
                  <c:v>132.42</c:v>
                </c:pt>
                <c:pt idx="43">
                  <c:v>133.86</c:v>
                </c:pt>
                <c:pt idx="44">
                  <c:v>129.14</c:v>
                </c:pt>
                <c:pt idx="45">
                  <c:v>130.82</c:v>
                </c:pt>
                <c:pt idx="46">
                  <c:v>131.94</c:v>
                </c:pt>
                <c:pt idx="47">
                  <c:v>132.21</c:v>
                </c:pt>
                <c:pt idx="48">
                  <c:v>133.57</c:v>
                </c:pt>
                <c:pt idx="49">
                  <c:v>138.43</c:v>
                </c:pt>
                <c:pt idx="50">
                  <c:v>140.93</c:v>
                </c:pt>
                <c:pt idx="51">
                  <c:v>140.2</c:v>
                </c:pt>
                <c:pt idx="52">
                  <c:v>133.44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  <c:tickLblSkip val="4"/>
        <c:tickMarkSkip val="4"/>
      </c:catAx>
      <c:valAx>
        <c:axId val="2140495176"/>
        <c:scaling>
          <c:max val="150.0"/>
          <c:min val="6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 M)</c:v>
                </c:pt>
              </c:strCache>
            </c:strRef>
          </c:tx>
          <c:spPr>
            <a:solidFill>
              <a:srgbClr val="1F6FB2"/>
            </a:solidFill>
          </c:spPr>
          <c:cat>
            <c:strRef>
              <c:f>Sheet1!$A$2:$A$9</c:f>
              <c:strCache>
                <c:ptCount val="8"/>
                <c:pt idx="0">
                  <c:v>FY25 Q1</c:v>
                </c:pt>
                <c:pt idx="1">
                  <c:v>FY25 Q2</c:v>
                </c:pt>
                <c:pt idx="2">
                  <c:v>FY25 Q3</c:v>
                </c:pt>
                <c:pt idx="3">
                  <c:v>FY25 Q4</c:v>
                </c:pt>
                <c:pt idx="4">
                  <c:v>FY26 Q1</c:v>
                </c:pt>
                <c:pt idx="5">
                  <c:v>FY26 Q2</c:v>
                </c:pt>
                <c:pt idx="6">
                  <c:v>FY26 Q3</c:v>
                </c:pt>
                <c:pt idx="7">
                  <c:v>FY26 Q4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65585</c:v>
                </c:pt>
                <c:pt idx="1">
                  <c:v>69632</c:v>
                </c:pt>
                <c:pt idx="2">
                  <c:v>70066</c:v>
                </c:pt>
                <c:pt idx="3">
                  <c:v>76441</c:v>
                </c:pt>
                <c:pt idx="4">
                  <c:v>77673</c:v>
                </c:pt>
                <c:pt idx="5">
                  <c:v>81273</c:v>
                </c:pt>
                <c:pt idx="6">
                  <c:v>82886</c:v>
                </c:pt>
                <c:pt idx="7">
                  <c:v>90007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Operating margin (%)</c:v>
                </c:pt>
              </c:strCache>
            </c:strRef>
          </c:tx>
          <c:spPr>
            <a:ln w="38100">
              <a:solidFill>
                <a:srgbClr val="E07A1F"/>
              </a:solidFill>
            </a:ln>
          </c:spPr>
          <c:marker>
            <c:symbol val="circle"/>
            <c:size val="7"/>
            <c:spPr>
              <a:solidFill>
                <a:srgbClr val="E07A1F"/>
              </a:solidFill>
            </c:spPr>
          </c:marker>
          <c:dLbls>
            <c:numFmt formatCode="0.0&quot;%&quot;" sourceLinked="0"/>
            <c:spPr>
              <a:noFill/>
            </c:spPr>
            <c:txPr>
              <a:bodyPr/>
              <a:lstStyle/>
              <a:p>
                <a:pPr>
                  <a:defRPr sz="1000" b="1">
                    <a:solidFill>
                      <a:srgbClr val="E07A1F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FY25 Q1</c:v>
                </c:pt>
                <c:pt idx="1">
                  <c:v>FY25 Q2</c:v>
                </c:pt>
                <c:pt idx="2">
                  <c:v>FY25 Q3</c:v>
                </c:pt>
                <c:pt idx="3">
                  <c:v>FY25 Q4</c:v>
                </c:pt>
                <c:pt idx="4">
                  <c:v>FY26 Q1</c:v>
                </c:pt>
                <c:pt idx="5">
                  <c:v>FY26 Q2</c:v>
                </c:pt>
                <c:pt idx="6">
                  <c:v>FY26 Q3</c:v>
                </c:pt>
                <c:pt idx="7">
                  <c:v>FY26 Q4</c:v>
                </c:pt>
              </c:strCache>
            </c:strRef>
          </c:cat>
          <c:val>
            <c:numRef>
              <c:f>Sheet1!$C$2:$C$9</c:f>
              <c:numCache>
                <c:formatCode>0.0</c:formatCode>
                <c:ptCount val="8"/>
                <c:pt idx="0">
                  <c:v>46.5838</c:v>
                </c:pt>
                <c:pt idx="1">
                  <c:v>45.4575</c:v>
                </c:pt>
                <c:pt idx="2">
                  <c:v>45.6712</c:v>
                </c:pt>
                <c:pt idx="3">
                  <c:v>44.9013</c:v>
                </c:pt>
                <c:pt idx="4">
                  <c:v>48.8728</c:v>
                </c:pt>
                <c:pt idx="5">
                  <c:v>47.0944</c:v>
                </c:pt>
                <c:pt idx="6">
                  <c:v>46.3263</c:v>
                </c:pt>
                <c:pt idx="7">
                  <c:v>45.1109</c:v>
                </c:pt>
              </c:numCache>
            </c:numRef>
          </c:val>
          <c:smooth val="0"/>
        </c:ser>
        <c:marker val="1"/>
        <c:axId val="50010"/>
        <c:axId val="5002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000.0"/>
          <c:min val="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20000.0"/>
      </c:valAx>
      <c:catAx>
        <c:axId val="50010"/>
        <c:scaling>
          <c:orientation val="minMax"/>
        </c:scaling>
        <c:delete val="1"/>
        <c:axPos val="b"/>
        <c:majorTickMark val="none"/>
        <c:minorTickMark val="none"/>
        <c:tickLblPos val="nextTo"/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50"/>
          <c:min val="20"/>
        </c:scaling>
        <c:delete val="0"/>
        <c:axPos val="r"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50010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Capex (USD M)</c:v>
                </c:pt>
              </c:strCache>
            </c:strRef>
          </c:tx>
          <c:spPr>
            <a:solidFill>
              <a:srgbClr val="E07A1F"/>
            </a:solidFill>
          </c:spPr>
          <c:cat>
            <c:strRef>
              <c:f>Sheet1!$A$2:$A$5</c:f>
              <c:strCache>
                <c:ptCount val="4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  <c:pt idx="3">
                  <c:v>FY2026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28107</c:v>
                </c:pt>
                <c:pt idx="1">
                  <c:v>44477</c:v>
                </c:pt>
                <c:pt idx="2">
                  <c:v>64551</c:v>
                </c:pt>
                <c:pt idx="3">
                  <c:v>115948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Free cash flow (USD M)</c:v>
                </c:pt>
              </c:strCache>
            </c:strRef>
          </c:tx>
          <c:spPr>
            <a:solidFill>
              <a:srgbClr val="1F6FB2"/>
            </a:solidFill>
          </c:spPr>
          <c:cat>
            <c:strRef>
              <c:f>Sheet1!$A$2:$A$5</c:f>
              <c:strCache>
                <c:ptCount val="4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  <c:pt idx="3">
                  <c:v>FY2026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59475</c:v>
                </c:pt>
                <c:pt idx="1">
                  <c:v>74071</c:v>
                </c:pt>
                <c:pt idx="2">
                  <c:v>71611</c:v>
                </c:pt>
                <c:pt idx="3">
                  <c:v>66987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Microsoft: 1-Year Stock Performance and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9D6E3"/>
                </a:solidFill>
              </a:rPr>
              <a:t>MSFT vs. QQQ vs. XLK  |  Revenue &amp; operating margin  |  Capex &amp; free cash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9D6E3"/>
                </a:solidFill>
              </a:rPr>
              <a:t>Market data as of 2026-10-15 close  |  Financials through FY2026 Q4 (quarter ended 2026-06-30)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</a:rPr>
              <a:t>MSFT +5.9% over 1 year, lagging QQQ (+21.1%) and XLK (+33.4%)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99"/>
                </a:solidFill>
              </a:rPr>
              <a:t>1-year total return, weekly, indexed to 100 at first weekly close (dividend-adjusted)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112471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99"/>
                </a:solidFill>
              </a:rPr>
              <a:t>Source: Yahoo Finance via stock-data get_price_history (period 1y, interval 1wk, adj_close), fetched 2026-10-16. 53 weekly points per series, week of 2025-10-13 to week of 2026-10-12 (last point = 2026-10-15 close). Total return = last / first adjusted close - 1.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</a:rPr>
              <a:t>FY26 Q4 revenue $90,007M (+17.7% YoY); op. margin 45.1%, off 48.9% peak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99"/>
                </a:solidFill>
              </a:rPr>
              <a:t>Quarterly revenue (USD millions, bars) and operating margin (%, line, right axis), last 8 fiscal quarters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112471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99"/>
                </a:solidFill>
              </a:rPr>
              <a:t>Source: Microsoft 10-K/10-Q XBRL via stock-data get_financials (quarterly income). Fiscal year ends 30 June. Q4 values derived as FY less 9M (latest 10-K filed 2026-07-29). Operating margin = operating income / revenue.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</a:rPr>
              <a:t>Capex rose 4.1x since FY2023 to $115,948M; FCF fell to $66,987M in FY2026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99"/>
                </a:solidFill>
              </a:rPr>
              <a:t>Capital expenditures vs. free cash flow by fiscal year (USD millions); FCF = operating cash flow - capex (PP&amp;E additions)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78638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503920" y="1828800"/>
          <a:ext cx="32918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658368"/>
                <a:gridCol w="658368"/>
                <a:gridCol w="658368"/>
                <a:gridCol w="658368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FY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</a:rPr>
                        <a:t>OCF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</a:rPr>
                        <a:t>Capex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</a:rPr>
                        <a:t>FCF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</a:rPr>
                        <a:t>Capex/OCF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D"/>
                          </a:solidFill>
                        </a:rPr>
                        <a:t>FY2023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6323D"/>
                          </a:solidFill>
                        </a:rPr>
                        <a:t>87,582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6323D"/>
                          </a:solidFill>
                        </a:rPr>
                        <a:t>28,107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6323D"/>
                          </a:solidFill>
                        </a:rPr>
                        <a:t>59,475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6323D"/>
                          </a:solidFill>
                        </a:rPr>
                        <a:t>32.1%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D"/>
                          </a:solidFill>
                        </a:rPr>
                        <a:t>FY2024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6323D"/>
                          </a:solidFill>
                        </a:rPr>
                        <a:t>118,548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6323D"/>
                          </a:solidFill>
                        </a:rPr>
                        <a:t>44,477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6323D"/>
                          </a:solidFill>
                        </a:rPr>
                        <a:t>74,071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6323D"/>
                          </a:solidFill>
                        </a:rPr>
                        <a:t>37.5%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D"/>
                          </a:solidFill>
                        </a:rPr>
                        <a:t>FY2025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6323D"/>
                          </a:solidFill>
                        </a:rPr>
                        <a:t>136,162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6323D"/>
                          </a:solidFill>
                        </a:rPr>
                        <a:t>64,551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6323D"/>
                          </a:solidFill>
                        </a:rPr>
                        <a:t>71,611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6323D"/>
                          </a:solidFill>
                        </a:rPr>
                        <a:t>47.4%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323D"/>
                          </a:solidFill>
                        </a:rPr>
                        <a:t>FY2026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6323D"/>
                          </a:solidFill>
                        </a:rPr>
                        <a:t>182,935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6323D"/>
                          </a:solidFill>
                        </a:rPr>
                        <a:t>115,948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6323D"/>
                          </a:solidFill>
                        </a:rPr>
                        <a:t>66,987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6323D"/>
                          </a:solidFill>
                        </a:rPr>
                        <a:t>63.4%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0392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99"/>
                </a:solidFill>
              </a:rPr>
              <a:t>USD millions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99"/>
                </a:solidFill>
              </a:rPr>
              <a:t>Source: Microsoft 10-K XBRL via stock-data get_financials (annual cash flow); FY2026 10-K filed 2026-07-29. Capex = PaymentsToAcquirePropertyPlantAndEquipment; excludes finance-lease additions.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</a:rPr>
              <a:t>Takeaways: growth accelerated, but the stock lagged as capex squeezed FCF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26323D"/>
                </a:solidFill>
              </a:rPr>
              <a:t>1. Stock: MSFT total return +5.9% (2025-10-17 to 2026-10-15) vs. QQQ +21.1% and XLK +33.4%, underperforming by 15.2 and 27.5 pts. Trough on 2026-03-27 (-30.2% from start); +51.8% since, led by the post-FY26 Q4 earnings rally (late July 2026).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6323D"/>
                </a:solidFill>
              </a:rPr>
              <a:t>2. Revenue: $65,585M (FY25 Q1) to $90,007M (FY26 Q4); FY26 Q4 up 17.7% YoY. FY2026 revenue $331,839M vs. $281,724M in FY2025 (+17.8%).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6323D"/>
                </a:solidFill>
              </a:rPr>
              <a:t>3. Margins: full-year operating margin 45.6% (FY25) to 46.8% (FY26), but the quarterly trend faded from 48.9% (FY26 Q1) to 45.1% (FY26 Q4) as AI infrastructure costs ramped.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6323D"/>
                </a:solidFill>
              </a:rPr>
              <a:t>4. Capex: $28,107M (FY23) to $115,948M (FY26), +79.6% in FY26 alone; capex absorbed 63.4% of operating cash flow (FY23: 32.1%).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6323D"/>
                </a:solidFill>
              </a:rPr>
              <a:t>5. Free cash flow: $74,071M peak (FY24) to $66,987M (FY26) even as OCF grew to $182,935M; the AI build-out is funded internally at the cost of near-term FCF.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99"/>
                </a:solidFill>
              </a:rPr>
              <a:t>Sources: stock-data get_price_history / get_financials (Yahoo Finance; SEC XBRL). Market data as of 2026-10-15 close; financials through quarter ended 2026-06-30.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