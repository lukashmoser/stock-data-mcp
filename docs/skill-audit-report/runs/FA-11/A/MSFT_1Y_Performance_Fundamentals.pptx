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MSFT</c:v>
                </c:pt>
              </c:strCache>
            </c:strRef>
          </c:tx>
          <c:spPr>
            <a:ln w="34925">
              <a:solidFill>
                <a:srgbClr val="0067B8"/>
              </a:solidFill>
            </a:ln>
          </c:spPr>
          <c:marker>
            <c:symbol val="none"/>
          </c:marker>
          <c:cat>
            <c:strRef>
              <c:f>Sheet1!$A$2:$A$54</c:f>
              <c:strCache>
                <c:ptCount val="53"/>
                <c:pt idx="0">
                  <c:v>2025-10-16</c:v>
                </c:pt>
                <c:pt idx="1">
                  <c:v>2025-10-23</c:v>
                </c:pt>
                <c:pt idx="2">
                  <c:v>2025-10-30</c:v>
                </c:pt>
                <c:pt idx="3">
                  <c:v>2025-11-06</c:v>
                </c:pt>
                <c:pt idx="4">
                  <c:v>2025-11-13</c:v>
                </c:pt>
                <c:pt idx="5">
                  <c:v>2025-11-20</c:v>
                </c:pt>
                <c:pt idx="6">
                  <c:v>2025-11-27</c:v>
                </c:pt>
                <c:pt idx="7">
                  <c:v>2025-12-04</c:v>
                </c:pt>
                <c:pt idx="8">
                  <c:v>2025-12-11</c:v>
                </c:pt>
                <c:pt idx="9">
                  <c:v>2025-12-18</c:v>
                </c:pt>
                <c:pt idx="10">
                  <c:v>2025-12-25</c:v>
                </c:pt>
                <c:pt idx="11">
                  <c:v>2026-01-01</c:v>
                </c:pt>
                <c:pt idx="12">
                  <c:v>2026-01-08</c:v>
                </c:pt>
                <c:pt idx="13">
                  <c:v>2026-01-15</c:v>
                </c:pt>
                <c:pt idx="14">
                  <c:v>2026-01-22</c:v>
                </c:pt>
                <c:pt idx="15">
                  <c:v>2026-01-29</c:v>
                </c:pt>
                <c:pt idx="16">
                  <c:v>2026-02-05</c:v>
                </c:pt>
                <c:pt idx="17">
                  <c:v>2026-02-12</c:v>
                </c:pt>
                <c:pt idx="18">
                  <c:v>2026-02-19</c:v>
                </c:pt>
                <c:pt idx="19">
                  <c:v>2026-02-26</c:v>
                </c:pt>
                <c:pt idx="20">
                  <c:v>2026-03-05</c:v>
                </c:pt>
                <c:pt idx="21">
                  <c:v>2026-03-12</c:v>
                </c:pt>
                <c:pt idx="22">
                  <c:v>2026-03-19</c:v>
                </c:pt>
                <c:pt idx="23">
                  <c:v>2026-03-26</c:v>
                </c:pt>
                <c:pt idx="24">
                  <c:v>2026-04-02</c:v>
                </c:pt>
                <c:pt idx="25">
                  <c:v>2026-04-09</c:v>
                </c:pt>
                <c:pt idx="26">
                  <c:v>2026-04-16</c:v>
                </c:pt>
                <c:pt idx="27">
                  <c:v>2026-04-23</c:v>
                </c:pt>
                <c:pt idx="28">
                  <c:v>2026-04-30</c:v>
                </c:pt>
                <c:pt idx="29">
                  <c:v>2026-05-07</c:v>
                </c:pt>
                <c:pt idx="30">
                  <c:v>2026-05-14</c:v>
                </c:pt>
                <c:pt idx="31">
                  <c:v>2026-05-21</c:v>
                </c:pt>
                <c:pt idx="32">
                  <c:v>2026-05-28</c:v>
                </c:pt>
                <c:pt idx="33">
                  <c:v>2026-06-04</c:v>
                </c:pt>
                <c:pt idx="34">
                  <c:v>2026-06-11</c:v>
                </c:pt>
                <c:pt idx="35">
                  <c:v>2026-06-18</c:v>
                </c:pt>
                <c:pt idx="36">
                  <c:v>2026-06-25</c:v>
                </c:pt>
                <c:pt idx="37">
                  <c:v>2026-07-02</c:v>
                </c:pt>
                <c:pt idx="38">
                  <c:v>2026-07-09</c:v>
                </c:pt>
                <c:pt idx="39">
                  <c:v>2026-07-16</c:v>
                </c:pt>
                <c:pt idx="40">
                  <c:v>2026-07-23</c:v>
                </c:pt>
                <c:pt idx="41">
                  <c:v>2026-07-30</c:v>
                </c:pt>
                <c:pt idx="42">
                  <c:v>2026-08-06</c:v>
                </c:pt>
                <c:pt idx="43">
                  <c:v>2026-08-13</c:v>
                </c:pt>
                <c:pt idx="44">
                  <c:v>2026-08-20</c:v>
                </c:pt>
                <c:pt idx="45">
                  <c:v>2026-08-27</c:v>
                </c:pt>
                <c:pt idx="46">
                  <c:v>2026-09-03</c:v>
                </c:pt>
                <c:pt idx="47">
                  <c:v>2026-09-10</c:v>
                </c:pt>
                <c:pt idx="48">
                  <c:v>2026-09-17</c:v>
                </c:pt>
                <c:pt idx="49">
                  <c:v>2026-09-24</c:v>
                </c:pt>
                <c:pt idx="50">
                  <c:v>2026-10-01</c:v>
                </c:pt>
                <c:pt idx="51">
                  <c:v>2026-10-08</c:v>
                </c:pt>
                <c:pt idx="52">
                  <c:v>2026-10-15</c:v>
                </c:pt>
              </c:strCache>
            </c:strRef>
          </c:cat>
          <c:val>
            <c:numRef>
              <c:f>Sheet1!$B$2:$B$54</c:f>
              <c:numCache>
                <c:formatCode>General</c:formatCode>
                <c:ptCount val="53"/>
                <c:pt idx="0">
                  <c:v>100.0</c:v>
                </c:pt>
                <c:pt idx="1">
                  <c:v>101.75</c:v>
                </c:pt>
                <c:pt idx="2">
                  <c:v>102.77</c:v>
                </c:pt>
                <c:pt idx="3">
                  <c:v>97.16</c:v>
                </c:pt>
                <c:pt idx="4">
                  <c:v>98.37</c:v>
                </c:pt>
                <c:pt idx="5">
                  <c:v>93.69</c:v>
                </c:pt>
                <c:pt idx="6">
                  <c:v>95.07</c:v>
                </c:pt>
                <c:pt idx="7">
                  <c:v>94.16</c:v>
                </c:pt>
                <c:pt idx="8">
                  <c:v>94.68</c:v>
                </c:pt>
                <c:pt idx="9">
                  <c:v>94.78</c:v>
                </c:pt>
                <c:pt idx="10">
                  <c:v>95.57</c:v>
                </c:pt>
                <c:pt idx="11">
                  <c:v>94.71</c:v>
                </c:pt>
                <c:pt idx="12">
                  <c:v>93.63</c:v>
                </c:pt>
                <c:pt idx="13">
                  <c:v>89.43</c:v>
                </c:pt>
                <c:pt idx="14">
                  <c:v>88.35</c:v>
                </c:pt>
                <c:pt idx="15">
                  <c:v>84.89</c:v>
                </c:pt>
                <c:pt idx="16">
                  <c:v>77.09</c:v>
                </c:pt>
                <c:pt idx="17">
                  <c:v>78.69</c:v>
                </c:pt>
                <c:pt idx="18">
                  <c:v>78.21</c:v>
                </c:pt>
                <c:pt idx="19">
                  <c:v>78.85</c:v>
                </c:pt>
                <c:pt idx="20">
                  <c:v>80.61</c:v>
                </c:pt>
                <c:pt idx="21">
                  <c:v>78.87</c:v>
                </c:pt>
                <c:pt idx="22">
                  <c:v>76.35</c:v>
                </c:pt>
                <c:pt idx="23">
                  <c:v>71.83</c:v>
                </c:pt>
                <c:pt idx="24">
                  <c:v>73.3</c:v>
                </c:pt>
                <c:pt idx="25">
                  <c:v>73.22</c:v>
                </c:pt>
                <c:pt idx="26">
                  <c:v>82.49</c:v>
                </c:pt>
                <c:pt idx="27">
                  <c:v>81.6</c:v>
                </c:pt>
                <c:pt idx="28">
                  <c:v>80.04</c:v>
                </c:pt>
                <c:pt idx="29">
                  <c:v>82.59</c:v>
                </c:pt>
                <c:pt idx="30">
                  <c:v>80.36</c:v>
                </c:pt>
                <c:pt idx="31">
                  <c:v>82.43</c:v>
                </c:pt>
                <c:pt idx="32">
                  <c:v>83.99</c:v>
                </c:pt>
                <c:pt idx="33">
                  <c:v>84.2</c:v>
                </c:pt>
                <c:pt idx="34">
                  <c:v>76.78</c:v>
                </c:pt>
                <c:pt idx="35">
                  <c:v>74.63</c:v>
                </c:pt>
                <c:pt idx="36">
                  <c:v>69.4</c:v>
                </c:pt>
                <c:pt idx="37">
                  <c:v>76.81</c:v>
                </c:pt>
                <c:pt idx="38">
                  <c:v>75.6</c:v>
                </c:pt>
                <c:pt idx="39">
                  <c:v>78.9</c:v>
                </c:pt>
                <c:pt idx="40">
                  <c:v>75.06</c:v>
                </c:pt>
                <c:pt idx="41">
                  <c:v>88.73</c:v>
                </c:pt>
                <c:pt idx="42">
                  <c:v>98.32</c:v>
                </c:pt>
                <c:pt idx="43">
                  <c:v>97.74</c:v>
                </c:pt>
                <c:pt idx="44">
                  <c:v>94.82</c:v>
                </c:pt>
                <c:pt idx="45">
                  <c:v>99.53</c:v>
                </c:pt>
                <c:pt idx="46">
                  <c:v>100.53</c:v>
                </c:pt>
                <c:pt idx="47">
                  <c:v>97.04</c:v>
                </c:pt>
                <c:pt idx="48">
                  <c:v>98.09</c:v>
                </c:pt>
                <c:pt idx="49">
                  <c:v>98.13</c:v>
                </c:pt>
                <c:pt idx="50">
                  <c:v>101.06</c:v>
                </c:pt>
                <c:pt idx="51">
                  <c:v>102.99</c:v>
                </c:pt>
                <c:pt idx="52">
                  <c:v>106.31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QQQ</c:v>
                </c:pt>
              </c:strCache>
            </c:strRef>
          </c:tx>
          <c:spPr>
            <a:ln w="25400">
              <a:solidFill>
                <a:srgbClr val="8C95A1"/>
              </a:solidFill>
            </a:ln>
          </c:spPr>
          <c:marker>
            <c:symbol val="none"/>
          </c:marker>
          <c:cat>
            <c:strRef>
              <c:f>Sheet1!$A$2:$A$54</c:f>
              <c:strCache>
                <c:ptCount val="53"/>
                <c:pt idx="0">
                  <c:v>2025-10-16</c:v>
                </c:pt>
                <c:pt idx="1">
                  <c:v>2025-10-23</c:v>
                </c:pt>
                <c:pt idx="2">
                  <c:v>2025-10-30</c:v>
                </c:pt>
                <c:pt idx="3">
                  <c:v>2025-11-06</c:v>
                </c:pt>
                <c:pt idx="4">
                  <c:v>2025-11-13</c:v>
                </c:pt>
                <c:pt idx="5">
                  <c:v>2025-11-20</c:v>
                </c:pt>
                <c:pt idx="6">
                  <c:v>2025-11-27</c:v>
                </c:pt>
                <c:pt idx="7">
                  <c:v>2025-12-04</c:v>
                </c:pt>
                <c:pt idx="8">
                  <c:v>2025-12-11</c:v>
                </c:pt>
                <c:pt idx="9">
                  <c:v>2025-12-18</c:v>
                </c:pt>
                <c:pt idx="10">
                  <c:v>2025-12-25</c:v>
                </c:pt>
                <c:pt idx="11">
                  <c:v>2026-01-01</c:v>
                </c:pt>
                <c:pt idx="12">
                  <c:v>2026-01-08</c:v>
                </c:pt>
                <c:pt idx="13">
                  <c:v>2026-01-15</c:v>
                </c:pt>
                <c:pt idx="14">
                  <c:v>2026-01-22</c:v>
                </c:pt>
                <c:pt idx="15">
                  <c:v>2026-01-29</c:v>
                </c:pt>
                <c:pt idx="16">
                  <c:v>2026-02-05</c:v>
                </c:pt>
                <c:pt idx="17">
                  <c:v>2026-02-12</c:v>
                </c:pt>
                <c:pt idx="18">
                  <c:v>2026-02-19</c:v>
                </c:pt>
                <c:pt idx="19">
                  <c:v>2026-02-26</c:v>
                </c:pt>
                <c:pt idx="20">
                  <c:v>2026-03-05</c:v>
                </c:pt>
                <c:pt idx="21">
                  <c:v>2026-03-12</c:v>
                </c:pt>
                <c:pt idx="22">
                  <c:v>2026-03-19</c:v>
                </c:pt>
                <c:pt idx="23">
                  <c:v>2026-03-26</c:v>
                </c:pt>
                <c:pt idx="24">
                  <c:v>2026-04-02</c:v>
                </c:pt>
                <c:pt idx="25">
                  <c:v>2026-04-09</c:v>
                </c:pt>
                <c:pt idx="26">
                  <c:v>2026-04-16</c:v>
                </c:pt>
                <c:pt idx="27">
                  <c:v>2026-04-23</c:v>
                </c:pt>
                <c:pt idx="28">
                  <c:v>2026-04-30</c:v>
                </c:pt>
                <c:pt idx="29">
                  <c:v>2026-05-07</c:v>
                </c:pt>
                <c:pt idx="30">
                  <c:v>2026-05-14</c:v>
                </c:pt>
                <c:pt idx="31">
                  <c:v>2026-05-21</c:v>
                </c:pt>
                <c:pt idx="32">
                  <c:v>2026-05-28</c:v>
                </c:pt>
                <c:pt idx="33">
                  <c:v>2026-06-04</c:v>
                </c:pt>
                <c:pt idx="34">
                  <c:v>2026-06-11</c:v>
                </c:pt>
                <c:pt idx="35">
                  <c:v>2026-06-18</c:v>
                </c:pt>
                <c:pt idx="36">
                  <c:v>2026-06-25</c:v>
                </c:pt>
                <c:pt idx="37">
                  <c:v>2026-07-02</c:v>
                </c:pt>
                <c:pt idx="38">
                  <c:v>2026-07-09</c:v>
                </c:pt>
                <c:pt idx="39">
                  <c:v>2026-07-16</c:v>
                </c:pt>
                <c:pt idx="40">
                  <c:v>2026-07-23</c:v>
                </c:pt>
                <c:pt idx="41">
                  <c:v>2026-07-30</c:v>
                </c:pt>
                <c:pt idx="42">
                  <c:v>2026-08-06</c:v>
                </c:pt>
                <c:pt idx="43">
                  <c:v>2026-08-13</c:v>
                </c:pt>
                <c:pt idx="44">
                  <c:v>2026-08-20</c:v>
                </c:pt>
                <c:pt idx="45">
                  <c:v>2026-08-27</c:v>
                </c:pt>
                <c:pt idx="46">
                  <c:v>2026-09-03</c:v>
                </c:pt>
                <c:pt idx="47">
                  <c:v>2026-09-10</c:v>
                </c:pt>
                <c:pt idx="48">
                  <c:v>2026-09-17</c:v>
                </c:pt>
                <c:pt idx="49">
                  <c:v>2026-09-24</c:v>
                </c:pt>
                <c:pt idx="50">
                  <c:v>2026-10-01</c:v>
                </c:pt>
                <c:pt idx="51">
                  <c:v>2026-10-08</c:v>
                </c:pt>
                <c:pt idx="52">
                  <c:v>2026-10-15</c:v>
                </c:pt>
              </c:strCache>
            </c:strRef>
          </c:cat>
          <c:val>
            <c:numRef>
              <c:f>Sheet1!$C$2:$C$54</c:f>
              <c:numCache>
                <c:formatCode>General</c:formatCode>
                <c:ptCount val="53"/>
                <c:pt idx="0">
                  <c:v>100.0</c:v>
                </c:pt>
                <c:pt idx="1">
                  <c:v>101.77</c:v>
                </c:pt>
                <c:pt idx="2">
                  <c:v>104.34</c:v>
                </c:pt>
                <c:pt idx="3">
                  <c:v>101.95</c:v>
                </c:pt>
                <c:pt idx="4">
                  <c:v>101.4</c:v>
                </c:pt>
                <c:pt idx="5">
                  <c:v>97.61</c:v>
                </c:pt>
                <c:pt idx="6">
                  <c:v>102.38</c:v>
                </c:pt>
                <c:pt idx="7">
                  <c:v>103.83</c:v>
                </c:pt>
                <c:pt idx="8">
                  <c:v>104.27</c:v>
                </c:pt>
                <c:pt idx="9">
                  <c:v>101.52</c:v>
                </c:pt>
                <c:pt idx="10">
                  <c:v>104.12</c:v>
                </c:pt>
                <c:pt idx="11">
                  <c:v>102.52</c:v>
                </c:pt>
                <c:pt idx="12">
                  <c:v>103.55</c:v>
                </c:pt>
                <c:pt idx="13">
                  <c:v>103.77</c:v>
                </c:pt>
                <c:pt idx="14">
                  <c:v>103.6</c:v>
                </c:pt>
                <c:pt idx="15">
                  <c:v>105.04</c:v>
                </c:pt>
                <c:pt idx="16">
                  <c:v>99.63</c:v>
                </c:pt>
                <c:pt idx="17">
                  <c:v>100.24</c:v>
                </c:pt>
                <c:pt idx="18">
                  <c:v>100.71</c:v>
                </c:pt>
                <c:pt idx="19">
                  <c:v>101.67</c:v>
                </c:pt>
                <c:pt idx="20">
                  <c:v>101.62</c:v>
                </c:pt>
                <c:pt idx="21">
                  <c:v>99.67</c:v>
                </c:pt>
                <c:pt idx="22">
                  <c:v>98.97</c:v>
                </c:pt>
                <c:pt idx="23">
                  <c:v>95.88</c:v>
                </c:pt>
                <c:pt idx="24">
                  <c:v>97.75</c:v>
                </c:pt>
                <c:pt idx="25">
                  <c:v>101.96</c:v>
                </c:pt>
                <c:pt idx="26">
                  <c:v>107.02</c:v>
                </c:pt>
                <c:pt idx="27">
                  <c:v>108.85</c:v>
                </c:pt>
                <c:pt idx="28">
                  <c:v>111.58</c:v>
                </c:pt>
                <c:pt idx="29">
                  <c:v>116.12</c:v>
                </c:pt>
                <c:pt idx="30">
                  <c:v>120.27</c:v>
                </c:pt>
                <c:pt idx="31">
                  <c:v>119.39</c:v>
                </c:pt>
                <c:pt idx="32">
                  <c:v>122.91</c:v>
                </c:pt>
                <c:pt idx="33">
                  <c:v>123.75</c:v>
                </c:pt>
                <c:pt idx="34">
                  <c:v>119.83</c:v>
                </c:pt>
                <c:pt idx="35">
                  <c:v>123.75</c:v>
                </c:pt>
                <c:pt idx="36">
                  <c:v>119.83</c:v>
                </c:pt>
                <c:pt idx="37">
                  <c:v>119.2</c:v>
                </c:pt>
                <c:pt idx="38">
                  <c:v>120.99</c:v>
                </c:pt>
                <c:pt idx="39">
                  <c:v>118.09</c:v>
                </c:pt>
                <c:pt idx="40">
                  <c:v>115.75</c:v>
                </c:pt>
                <c:pt idx="41">
                  <c:v>114.34</c:v>
                </c:pt>
                <c:pt idx="42">
                  <c:v>119.55</c:v>
                </c:pt>
                <c:pt idx="43">
                  <c:v>122.46</c:v>
                </c:pt>
                <c:pt idx="44">
                  <c:v>118.92</c:v>
                </c:pt>
                <c:pt idx="45">
                  <c:v>120.63</c:v>
                </c:pt>
                <c:pt idx="46">
                  <c:v>120.05</c:v>
                </c:pt>
                <c:pt idx="47">
                  <c:v>118.55</c:v>
                </c:pt>
                <c:pt idx="48">
                  <c:v>119.93</c:v>
                </c:pt>
                <c:pt idx="49">
                  <c:v>124.1</c:v>
                </c:pt>
                <c:pt idx="50">
                  <c:v>124.25</c:v>
                </c:pt>
                <c:pt idx="51">
                  <c:v>125.18</c:v>
                </c:pt>
                <c:pt idx="52">
                  <c:v>121.91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XLK</c:v>
                </c:pt>
              </c:strCache>
            </c:strRef>
          </c:tx>
          <c:spPr>
            <a:ln w="25400">
              <a:solidFill>
                <a:srgbClr val="2A9D8F"/>
              </a:solidFill>
            </a:ln>
          </c:spPr>
          <c:marker>
            <c:symbol val="none"/>
          </c:marker>
          <c:cat>
            <c:strRef>
              <c:f>Sheet1!$A$2:$A$54</c:f>
              <c:strCache>
                <c:ptCount val="53"/>
                <c:pt idx="0">
                  <c:v>2025-10-16</c:v>
                </c:pt>
                <c:pt idx="1">
                  <c:v>2025-10-23</c:v>
                </c:pt>
                <c:pt idx="2">
                  <c:v>2025-10-30</c:v>
                </c:pt>
                <c:pt idx="3">
                  <c:v>2025-11-06</c:v>
                </c:pt>
                <c:pt idx="4">
                  <c:v>2025-11-13</c:v>
                </c:pt>
                <c:pt idx="5">
                  <c:v>2025-11-20</c:v>
                </c:pt>
                <c:pt idx="6">
                  <c:v>2025-11-27</c:v>
                </c:pt>
                <c:pt idx="7">
                  <c:v>2025-12-04</c:v>
                </c:pt>
                <c:pt idx="8">
                  <c:v>2025-12-11</c:v>
                </c:pt>
                <c:pt idx="9">
                  <c:v>2025-12-18</c:v>
                </c:pt>
                <c:pt idx="10">
                  <c:v>2025-12-25</c:v>
                </c:pt>
                <c:pt idx="11">
                  <c:v>2026-01-01</c:v>
                </c:pt>
                <c:pt idx="12">
                  <c:v>2026-01-08</c:v>
                </c:pt>
                <c:pt idx="13">
                  <c:v>2026-01-15</c:v>
                </c:pt>
                <c:pt idx="14">
                  <c:v>2026-01-22</c:v>
                </c:pt>
                <c:pt idx="15">
                  <c:v>2026-01-29</c:v>
                </c:pt>
                <c:pt idx="16">
                  <c:v>2026-02-05</c:v>
                </c:pt>
                <c:pt idx="17">
                  <c:v>2026-02-12</c:v>
                </c:pt>
                <c:pt idx="18">
                  <c:v>2026-02-19</c:v>
                </c:pt>
                <c:pt idx="19">
                  <c:v>2026-02-26</c:v>
                </c:pt>
                <c:pt idx="20">
                  <c:v>2026-03-05</c:v>
                </c:pt>
                <c:pt idx="21">
                  <c:v>2026-03-12</c:v>
                </c:pt>
                <c:pt idx="22">
                  <c:v>2026-03-19</c:v>
                </c:pt>
                <c:pt idx="23">
                  <c:v>2026-03-26</c:v>
                </c:pt>
                <c:pt idx="24">
                  <c:v>2026-04-02</c:v>
                </c:pt>
                <c:pt idx="25">
                  <c:v>2026-04-09</c:v>
                </c:pt>
                <c:pt idx="26">
                  <c:v>2026-04-16</c:v>
                </c:pt>
                <c:pt idx="27">
                  <c:v>2026-04-23</c:v>
                </c:pt>
                <c:pt idx="28">
                  <c:v>2026-04-30</c:v>
                </c:pt>
                <c:pt idx="29">
                  <c:v>2026-05-07</c:v>
                </c:pt>
                <c:pt idx="30">
                  <c:v>2026-05-14</c:v>
                </c:pt>
                <c:pt idx="31">
                  <c:v>2026-05-21</c:v>
                </c:pt>
                <c:pt idx="32">
                  <c:v>2026-05-28</c:v>
                </c:pt>
                <c:pt idx="33">
                  <c:v>2026-06-04</c:v>
                </c:pt>
                <c:pt idx="34">
                  <c:v>2026-06-11</c:v>
                </c:pt>
                <c:pt idx="35">
                  <c:v>2026-06-18</c:v>
                </c:pt>
                <c:pt idx="36">
                  <c:v>2026-06-25</c:v>
                </c:pt>
                <c:pt idx="37">
                  <c:v>2026-07-02</c:v>
                </c:pt>
                <c:pt idx="38">
                  <c:v>2026-07-09</c:v>
                </c:pt>
                <c:pt idx="39">
                  <c:v>2026-07-16</c:v>
                </c:pt>
                <c:pt idx="40">
                  <c:v>2026-07-23</c:v>
                </c:pt>
                <c:pt idx="41">
                  <c:v>2026-07-30</c:v>
                </c:pt>
                <c:pt idx="42">
                  <c:v>2026-08-06</c:v>
                </c:pt>
                <c:pt idx="43">
                  <c:v>2026-08-13</c:v>
                </c:pt>
                <c:pt idx="44">
                  <c:v>2026-08-20</c:v>
                </c:pt>
                <c:pt idx="45">
                  <c:v>2026-08-27</c:v>
                </c:pt>
                <c:pt idx="46">
                  <c:v>2026-09-03</c:v>
                </c:pt>
                <c:pt idx="47">
                  <c:v>2026-09-10</c:v>
                </c:pt>
                <c:pt idx="48">
                  <c:v>2026-09-17</c:v>
                </c:pt>
                <c:pt idx="49">
                  <c:v>2026-09-24</c:v>
                </c:pt>
                <c:pt idx="50">
                  <c:v>2026-10-01</c:v>
                </c:pt>
                <c:pt idx="51">
                  <c:v>2026-10-08</c:v>
                </c:pt>
                <c:pt idx="52">
                  <c:v>2026-10-15</c:v>
                </c:pt>
              </c:strCache>
            </c:strRef>
          </c:cat>
          <c:val>
            <c:numRef>
              <c:f>Sheet1!$D$2:$D$54</c:f>
              <c:numCache>
                <c:formatCode>General</c:formatCode>
                <c:ptCount val="53"/>
                <c:pt idx="0">
                  <c:v>100.0</c:v>
                </c:pt>
                <c:pt idx="1">
                  <c:v>101.61</c:v>
                </c:pt>
                <c:pt idx="2">
                  <c:v>105.58</c:v>
                </c:pt>
                <c:pt idx="3">
                  <c:v>101.63</c:v>
                </c:pt>
                <c:pt idx="4">
                  <c:v>100.73</c:v>
                </c:pt>
                <c:pt idx="5">
                  <c:v>95.66</c:v>
                </c:pt>
                <c:pt idx="6">
                  <c:v>99.74</c:v>
                </c:pt>
                <c:pt idx="7">
                  <c:v>102.31</c:v>
                </c:pt>
                <c:pt idx="8">
                  <c:v>104.02</c:v>
                </c:pt>
                <c:pt idx="9">
                  <c:v>99.5</c:v>
                </c:pt>
                <c:pt idx="10">
                  <c:v>103.0</c:v>
                </c:pt>
                <c:pt idx="11">
                  <c:v>101.36</c:v>
                </c:pt>
                <c:pt idx="12">
                  <c:v>101.55</c:v>
                </c:pt>
                <c:pt idx="13">
                  <c:v>102.41</c:v>
                </c:pt>
                <c:pt idx="14">
                  <c:v>102.0</c:v>
                </c:pt>
                <c:pt idx="15">
                  <c:v>103.4</c:v>
                </c:pt>
                <c:pt idx="16">
                  <c:v>95.49</c:v>
                </c:pt>
                <c:pt idx="17">
                  <c:v>98.01</c:v>
                </c:pt>
                <c:pt idx="18">
                  <c:v>98.71</c:v>
                </c:pt>
                <c:pt idx="19">
                  <c:v>99.28</c:v>
                </c:pt>
                <c:pt idx="20">
                  <c:v>98.69</c:v>
                </c:pt>
                <c:pt idx="21">
                  <c:v>97.04</c:v>
                </c:pt>
                <c:pt idx="22">
                  <c:v>97.46</c:v>
                </c:pt>
                <c:pt idx="23">
                  <c:v>93.4</c:v>
                </c:pt>
                <c:pt idx="24">
                  <c:v>95.86</c:v>
                </c:pt>
                <c:pt idx="25">
                  <c:v>100.15</c:v>
                </c:pt>
                <c:pt idx="26">
                  <c:v>107.16</c:v>
                </c:pt>
                <c:pt idx="27">
                  <c:v>109.85</c:v>
                </c:pt>
                <c:pt idx="28">
                  <c:v>112.43</c:v>
                </c:pt>
                <c:pt idx="29">
                  <c:v>119.61</c:v>
                </c:pt>
                <c:pt idx="30">
                  <c:v>126.53</c:v>
                </c:pt>
                <c:pt idx="31">
                  <c:v>125.9</c:v>
                </c:pt>
                <c:pt idx="32">
                  <c:v>131.71</c:v>
                </c:pt>
                <c:pt idx="33">
                  <c:v>136.17</c:v>
                </c:pt>
                <c:pt idx="34">
                  <c:v>129.14</c:v>
                </c:pt>
                <c:pt idx="35">
                  <c:v>134.95</c:v>
                </c:pt>
                <c:pt idx="36">
                  <c:v>130.26</c:v>
                </c:pt>
                <c:pt idx="37">
                  <c:v>127.45</c:v>
                </c:pt>
                <c:pt idx="38">
                  <c:v>130.81</c:v>
                </c:pt>
                <c:pt idx="39">
                  <c:v>125.28</c:v>
                </c:pt>
                <c:pt idx="40">
                  <c:v>125.94</c:v>
                </c:pt>
                <c:pt idx="41">
                  <c:v>124.02</c:v>
                </c:pt>
                <c:pt idx="42">
                  <c:v>130.8</c:v>
                </c:pt>
                <c:pt idx="43">
                  <c:v>134.63</c:v>
                </c:pt>
                <c:pt idx="44">
                  <c:v>129.22</c:v>
                </c:pt>
                <c:pt idx="45">
                  <c:v>133.11</c:v>
                </c:pt>
                <c:pt idx="46">
                  <c:v>131.25</c:v>
                </c:pt>
                <c:pt idx="47">
                  <c:v>130.72</c:v>
                </c:pt>
                <c:pt idx="48">
                  <c:v>132.72</c:v>
                </c:pt>
                <c:pt idx="49">
                  <c:v>137.57</c:v>
                </c:pt>
                <c:pt idx="50">
                  <c:v>139.76</c:v>
                </c:pt>
                <c:pt idx="51">
                  <c:v>139.74</c:v>
                </c:pt>
                <c:pt idx="52">
                  <c:v>133.67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  <c:tickLblSkip val="8"/>
        <c:tickMarkSkip val="4"/>
      </c:catAx>
      <c:valAx>
        <c:axId val="2140495176"/>
        <c:scaling>
          <c:max val="150.0"/>
          <c:min val="60.0"/>
        </c:scaling>
        <c:delete val="0"/>
        <c:axPos val="l"/>
        <c:majorGridlines>
          <c:spPr>
            <a:ln>
              <a:solidFill>
                <a:srgbClr val="E3E6EA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 M)</c:v>
                </c:pt>
              </c:strCache>
            </c:strRef>
          </c:tx>
          <c:spPr>
            <a:solidFill>
              <a:srgbClr val="0067B8"/>
            </a:solidFill>
          </c:spPr>
          <c:cat>
            <c:strRef>
              <c:f>Sheet1!$A$2:$A$9</c:f>
              <c:strCache>
                <c:ptCount val="8"/>
                <c:pt idx="0">
                  <c:v>FQ1'25</c:v>
                </c:pt>
                <c:pt idx="1">
                  <c:v>FQ2'25</c:v>
                </c:pt>
                <c:pt idx="2">
                  <c:v>FQ3'25</c:v>
                </c:pt>
                <c:pt idx="3">
                  <c:v>FQ4'25</c:v>
                </c:pt>
                <c:pt idx="4">
                  <c:v>FQ1'26</c:v>
                </c:pt>
                <c:pt idx="5">
                  <c:v>FQ2'26</c:v>
                </c:pt>
                <c:pt idx="6">
                  <c:v>FQ3'26</c:v>
                </c:pt>
                <c:pt idx="7">
                  <c:v>FQ4'26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65585</c:v>
                </c:pt>
                <c:pt idx="1">
                  <c:v>69632</c:v>
                </c:pt>
                <c:pt idx="2">
                  <c:v>70066</c:v>
                </c:pt>
                <c:pt idx="3">
                  <c:v>76441</c:v>
                </c:pt>
                <c:pt idx="4">
                  <c:v>77673</c:v>
                </c:pt>
                <c:pt idx="5">
                  <c:v>81273</c:v>
                </c:pt>
                <c:pt idx="6">
                  <c:v>82886</c:v>
                </c:pt>
                <c:pt idx="7">
                  <c:v>90007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Operating margin (%)</c:v>
                </c:pt>
              </c:strCache>
            </c:strRef>
          </c:tx>
          <c:spPr>
            <a:ln w="34925">
              <a:solidFill>
                <a:srgbClr val="E07A1F"/>
              </a:solidFill>
            </a:ln>
          </c:spPr>
          <c:marker>
            <c:symbol val="circle"/>
            <c:size val="7"/>
            <c:spPr>
              <a:solidFill>
                <a:srgbClr val="E07A1F"/>
              </a:solidFill>
              <a:ln>
                <a:solidFill>
                  <a:srgbClr val="E07A1F"/>
                </a:solidFill>
              </a:ln>
            </c:spPr>
          </c:marker>
          <c:dLbls>
            <c:numFmt formatCode="0.0&quot;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100" b="1">
                    <a:solidFill>
                      <a:srgbClr val="E07A1F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Sheet1!$A$2:$A$9</c:f>
              <c:strCache>
                <c:ptCount val="8"/>
                <c:pt idx="0">
                  <c:v>FQ1'25</c:v>
                </c:pt>
                <c:pt idx="1">
                  <c:v>FQ2'25</c:v>
                </c:pt>
                <c:pt idx="2">
                  <c:v>FQ3'25</c:v>
                </c:pt>
                <c:pt idx="3">
                  <c:v>FQ4'25</c:v>
                </c:pt>
                <c:pt idx="4">
                  <c:v>FQ1'26</c:v>
                </c:pt>
                <c:pt idx="5">
                  <c:v>FQ2'26</c:v>
                </c:pt>
                <c:pt idx="6">
                  <c:v>FQ3'26</c:v>
                </c:pt>
                <c:pt idx="7">
                  <c:v>FQ4'26</c:v>
                </c:pt>
              </c:strCache>
            </c:strRef>
          </c:cat>
          <c:val>
            <c:numRef>
              <c:f>Sheet1!$C$2:$C$9</c:f>
              <c:numCache>
                <c:formatCode>0.0</c:formatCode>
                <c:ptCount val="8"/>
                <c:pt idx="0">
                  <c:v>46.6</c:v>
                </c:pt>
                <c:pt idx="1">
                  <c:v>45.5</c:v>
                </c:pt>
                <c:pt idx="2">
                  <c:v>45.7</c:v>
                </c:pt>
                <c:pt idx="3">
                  <c:v>44.9</c:v>
                </c:pt>
                <c:pt idx="4">
                  <c:v>48.9</c:v>
                </c:pt>
                <c:pt idx="5">
                  <c:v>47.1</c:v>
                </c:pt>
                <c:pt idx="6">
                  <c:v>46.3</c:v>
                </c:pt>
                <c:pt idx="7">
                  <c:v>45.1</c:v>
                </c:pt>
              </c:numCache>
            </c:numRef>
          </c:val>
          <c:smooth val="0"/>
        </c:ser>
        <c:marker val="1"/>
        <c:axId val="900001"/>
        <c:axId val="900002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0000.0"/>
          <c:min val="0.0"/>
        </c:scaling>
        <c:delete val="0"/>
        <c:axPos val="l"/>
        <c:majorGridlines>
          <c:spPr>
            <a:ln>
              <a:solidFill>
                <a:srgbClr val="E3E6EA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  <c:catAx>
        <c:axId val="900001"/>
        <c:scaling>
          <c:orientation val="minMax"/>
        </c:scaling>
        <c:delete val="1"/>
        <c:axPos val="b"/>
        <c:majorTickMark val="none"/>
        <c:minorTickMark val="none"/>
        <c:tickLblPos val="nextTo"/>
        <c:crossAx val="900002"/>
        <c:crosses val="autoZero"/>
        <c:auto val="1"/>
        <c:lblAlgn val="ctr"/>
        <c:lblOffset val="100"/>
        <c:noMultiLvlLbl val="0"/>
      </c:catAx>
      <c:valAx>
        <c:axId val="900002"/>
        <c:scaling>
          <c:orientation val="minMax"/>
          <c:max val="55"/>
          <c:min val="0"/>
        </c:scaling>
        <c:delete val="0"/>
        <c:axPos val="r"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900001"/>
        <c:crosses val="max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Capex (USD M)</c:v>
                </c:pt>
              </c:strCache>
            </c:strRef>
          </c:tx>
          <c:spPr>
            <a:solidFill>
              <a:srgbClr val="1F2A44"/>
            </a:solidFill>
          </c:spPr>
          <c:cat>
            <c:strRef>
              <c:f>Sheet1!$A$2:$A$5</c:f>
              <c:strCache>
                <c:ptCount val="4"/>
                <c:pt idx="0">
                  <c:v>FY23</c:v>
                </c:pt>
                <c:pt idx="1">
                  <c:v>FY24</c:v>
                </c:pt>
                <c:pt idx="2">
                  <c:v>FY25</c:v>
                </c:pt>
                <c:pt idx="3">
                  <c:v>FY26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28107</c:v>
                </c:pt>
                <c:pt idx="1">
                  <c:v>44477</c:v>
                </c:pt>
                <c:pt idx="2">
                  <c:v>64551</c:v>
                </c:pt>
                <c:pt idx="3">
                  <c:v>115948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Free cash flow (USD M)</c:v>
                </c:pt>
              </c:strCache>
            </c:strRef>
          </c:tx>
          <c:spPr>
            <a:solidFill>
              <a:srgbClr val="2A9D8F"/>
            </a:solidFill>
          </c:spPr>
          <c:cat>
            <c:strRef>
              <c:f>Sheet1!$A$2:$A$5</c:f>
              <c:strCache>
                <c:ptCount val="4"/>
                <c:pt idx="0">
                  <c:v>FY23</c:v>
                </c:pt>
                <c:pt idx="1">
                  <c:v>FY24</c:v>
                </c:pt>
                <c:pt idx="2">
                  <c:v>FY25</c:v>
                </c:pt>
                <c:pt idx="3">
                  <c:v>FY26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59475</c:v>
                </c:pt>
                <c:pt idx="1">
                  <c:v>74071</c:v>
                </c:pt>
                <c:pt idx="2">
                  <c:v>71611</c:v>
                </c:pt>
                <c:pt idx="3">
                  <c:v>66987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0000.0"/>
          <c:min val="0.0"/>
        </c:scaling>
        <c:delete val="0"/>
        <c:axPos val="l"/>
        <c:majorGridlines>
          <c:spPr>
            <a:ln>
              <a:solidFill>
                <a:srgbClr val="E3E6EA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Microsoft: 1-Year Stock Performance and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8D3E0"/>
                </a:solidFill>
                <a:latin typeface="Calibri"/>
              </a:rPr>
              <a:t>MSFT vs. QQQ vs. XLK, 2025-10-16 to 2026-10-15 | Fundamentals through FQ4'26 (quarter ended 2026-06-30)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C8D3E0"/>
                </a:solidFill>
                <a:latin typeface="Calibri"/>
              </a:rPr>
              <a:t>USD millions unless noted. Prices as of 2026-10-15 close. Sources: stockanalysis.com price history and financial statements.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F2A44"/>
                </a:solidFill>
                <a:latin typeface="Calibri"/>
              </a:rPr>
              <a:t>MSFT lagged badly: +6.3% total return vs. +21.9% QQQ and +33.7% XLK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8C95A1"/>
                </a:solidFill>
                <a:latin typeface="Calibri"/>
              </a:rPr>
              <a:t>1-year total return, weekly (Thursday closes), indexed to 100 on 2025-10-16; dividends reinvested via adjusted closes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850392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0" y="1463040"/>
            <a:ext cx="2651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1-yr total return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MSFT  +6.3%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QQQ   +21.9%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XLK   +33.7%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MSFT trough: 69.4 on 2026-06-25 (-30.6% from start)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Rebound followed the late-July FQ4'26 report.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53 weekly points per series.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8C95A1"/>
                </a:solidFill>
                <a:latin typeface="Calibri"/>
              </a:rPr>
              <a:t>Source: stockanalysis.com daily close and dividend-adjusted close, sampled at each Thursday close (prior trading day if holiday). Period 2025-10-16 to 2026-10-15.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F2A44"/>
                </a:solidFill>
                <a:latin typeface="Calibri"/>
              </a:rPr>
              <a:t>FQ4'26 revenue $90,007M (+17.7% YoY); margin steady at 44.9-48.9%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8C95A1"/>
                </a:solidFill>
                <a:latin typeface="Calibri"/>
              </a:rPr>
              <a:t>Quarterly revenue (USD millions, bars, left axis) and operating margin (%, line, right axis); fiscal year ends June 30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8C95A1"/>
                </a:solidFill>
                <a:latin typeface="Calibri"/>
              </a:rPr>
              <a:t>Source: Microsoft quarterly income statements via stockanalysis.com (revenue, operating income); margin = operating income / revenue. FQ1'25 = quarter ended 2024-09-30.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F2A44"/>
                </a:solidFill>
                <a:latin typeface="Calibri"/>
              </a:rPr>
              <a:t>FY26 capex +79.6% to $115,948M; FCF down 6.5% to $66,987M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8C95A1"/>
                </a:solidFill>
                <a:latin typeface="Calibri"/>
              </a:rPr>
              <a:t>Capital expenditures and free cash flow by fiscal year (USD millions); FY ends June 30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80467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77824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Operating cash flow (USD M)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FY23: 87,582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FY24: 118,548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FY25: 136,162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FY26: 182,935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Capex / OCF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FY23: 32.1%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FY24: 37.5%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FY25: 47.4%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FY26: 63.4%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8C95A1"/>
                </a:solidFill>
                <a:latin typeface="Calibri"/>
              </a:rPr>
              <a:t>Source: Microsoft cash flow statements via stockanalysis.com. Capex = additions to property and equipment (excludes finance leases). FCF = operating cash flow - capex.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F2A44"/>
                </a:solidFill>
                <a:latin typeface="Calibri"/>
              </a:rPr>
              <a:t>Key takeaways: strong operations, but the market is pricing the capex bill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333333"/>
                </a:solidFill>
              </a:rPr>
              <a:t>•  Stock: MSFT returned +6.3% (2025-10-16 to 2026-10-15), trailing QQQ (+21.9%) by 15.6 pts and XLK (+33.7%) by 27.4 pts.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333333"/>
                </a:solidFill>
              </a:rPr>
              <a:t>•  Drawdown: MSFT fell to 69.4 on the index (-30.6%) by 2026-06-25, then rallied after FQ4'26 results; QQQ and XLK never fell more than 4.1% and 6.6% below their start.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333333"/>
                </a:solidFill>
              </a:rPr>
              <a:t>•  Growth: FY26 revenue $331,839M (+17.8% YoY); FQ4'26 revenue $90,007M (+17.7% YoY).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333333"/>
                </a:solidFill>
              </a:rPr>
              <a:t>•  Profitability: FY26 operating margin 46.8% vs. 45.6% in FY25; quarterly margin peaked at 48.9% (FQ1'26) and was 45.1% in FQ4'26.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333333"/>
                </a:solidFill>
              </a:rPr>
              <a:t>•  Investment: capex rose from $28,107M (FY23) to $115,948M (FY26), 4.1x; FY26 capex was 63.4% of operating cash flow.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333333"/>
                </a:solidFill>
              </a:rPr>
              <a:t>•  Cash: FCF fell for a second year to $66,987M in FY26 (-6.5%), even as operating cash flow grew 34.4%. Watch FQ1'27 results (late 2026-10) for capex guidance.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8C95A1"/>
                </a:solidFill>
                <a:latin typeface="Calibri"/>
              </a:rPr>
              <a:t>Sources: stockanalysis.com price history (adjusted closes) and Microsoft financial statements. Figures in USD millions; percentages to one decimal place.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