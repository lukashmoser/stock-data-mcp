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3eee914-1e4d-ac48-44f0-66bd133384ec}">
          <p14:sldIdLst>
            <p14:sldId id="256"/>
            <p14:sldId id="257"/>
          </p14:sldIdLst>
        </p14:section>
        <p14:section name="Financials" id="{5c86d448-f948-0915-070e-e1c960b3a6aa}">
          <p14:sldIdLst>
            <p14:sldId id="258"/>
            <p14:sldId id="259"/>
          </p14:sldIdLst>
        </p14:section>
        <p14:section name="Valuation" id="{b3f8546e-7cf7-5796-a08f-38eb1a6d3452}">
          <p14:sldIdLst>
            <p14:sldId id="260"/>
          </p14:sldIdLst>
        </p14:section>
        <p14:section name="Appendix" id="{4e52e60b-5ba5-31d8-49f5-e2d134e0def7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2B3A5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  <c:pt idx="5">
                    <c:v>FY2026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168.1</c:v>
                </c:pt>
                <c:pt idx="1">
                  <c:v>198.3</c:v>
                </c:pt>
                <c:pt idx="2">
                  <c:v>211.9</c:v>
                </c:pt>
                <c:pt idx="3">
                  <c:v>245.1</c:v>
                </c:pt>
                <c:pt idx="4">
                  <c:v>281.7</c:v>
                </c:pt>
                <c:pt idx="5">
                  <c:v>331.8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income ($B)</c:v>
                </c:pt>
              </c:strCache>
            </c:strRef>
          </c:tx>
          <c:spPr>
            <a:solidFill>
              <a:srgbClr val="1E8C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  <c:pt idx="5">
                    <c:v>FY2026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69.9</c:v>
                </c:pt>
                <c:pt idx="1">
                  <c:v>83.4</c:v>
                </c:pt>
                <c:pt idx="2">
                  <c:v>88.5</c:v>
                </c:pt>
                <c:pt idx="3">
                  <c:v>109.4</c:v>
                </c:pt>
                <c:pt idx="4">
                  <c:v>128.5</c:v>
                </c:pt>
                <c:pt idx="5">
                  <c:v>155.2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69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699"/>
                    </a:solidFill>
                    <a:latin typeface="Arial"/>
                  </a:rPr>
                  <a:t>$ billions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8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Microsoft (MSFT) Company Snapshot  |  FY2026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Microsoft (MSFT) Company Snapshot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Fiscal year ended June 30, 2026</a:t>
            </a:r>
            <a:endParaRPr lang="en-US" sz="1800" dirty="0"/>
          </a:p>
        </p:txBody>
      </p:sp>
      <p:sp>
        <p:nvSpPr>
          <p:cNvPr id="4" name="asof-pill"/>
          <p:cNvSpPr/>
          <p:nvPr/>
        </p:nvSpPr>
        <p:spPr>
          <a:xfrm>
            <a:off x="548640" y="384048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as of 2026-10-15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Key stats: FY2026 at a glance</a:t>
            </a:r>
            <a:endParaRPr lang="en-US" sz="2600" dirty="0"/>
          </a:p>
        </p:txBody>
      </p:sp>
      <p:sp>
        <p:nvSpPr>
          <p:cNvPr id="3" name="stat-card-1"/>
          <p:cNvSpPr/>
          <p:nvPr/>
        </p:nvSpPr>
        <p:spPr>
          <a:xfrm>
            <a:off x="45720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$539.44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Share price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Close, 2026-10-15</a:t>
            </a:r>
            <a:endParaRPr lang="en-US" sz="1100" dirty="0"/>
          </a:p>
        </p:txBody>
      </p:sp>
      <p:sp>
        <p:nvSpPr>
          <p:cNvPr id="7" name="stat-card-2"/>
          <p:cNvSpPr/>
          <p:nvPr/>
        </p:nvSpPr>
        <p:spPr>
          <a:xfrm>
            <a:off x="256032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$4.01T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Market cap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7,427M shares outstanding</a:t>
            </a:r>
            <a:endParaRPr lang="en-US" sz="1100" dirty="0"/>
          </a:p>
        </p:txBody>
      </p:sp>
      <p:sp>
        <p:nvSpPr>
          <p:cNvPr id="11" name="stat-card-3"/>
          <p:cNvSpPr/>
          <p:nvPr/>
        </p:nvSpPr>
        <p:spPr>
          <a:xfrm>
            <a:off x="466344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$331.8B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FY2026 revenue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Fiscal year to 6/30/26</a:t>
            </a:r>
            <a:endParaRPr lang="en-US" sz="1100" dirty="0"/>
          </a:p>
        </p:txBody>
      </p:sp>
      <p:sp>
        <p:nvSpPr>
          <p:cNvPr id="15" name="stat-card-4"/>
          <p:cNvSpPr/>
          <p:nvPr/>
        </p:nvSpPr>
        <p:spPr>
          <a:xfrm>
            <a:off x="676656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growth YoY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vs. FY2025 $281.7B</a:t>
            </a:r>
            <a:endParaRPr lang="en-US" sz="1100" dirty="0"/>
          </a:p>
        </p:txBody>
      </p:sp>
      <p:sp>
        <p:nvSpPr>
          <p:cNvPr id="19" name="stat-card-5"/>
          <p:cNvSpPr/>
          <p:nvPr/>
        </p:nvSpPr>
        <p:spPr>
          <a:xfrm>
            <a:off x="150876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4592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46.8%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Operating margin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Op. income $155.2B</a:t>
            </a:r>
            <a:endParaRPr lang="en-US" sz="1100" dirty="0"/>
          </a:p>
        </p:txBody>
      </p:sp>
      <p:sp>
        <p:nvSpPr>
          <p:cNvPr id="23" name="stat-card-6"/>
          <p:cNvSpPr/>
          <p:nvPr/>
        </p:nvSpPr>
        <p:spPr>
          <a:xfrm>
            <a:off x="361188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490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$67.0B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Free cash flow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OCF less capex</a:t>
            </a:r>
            <a:endParaRPr lang="en-US" sz="1100" dirty="0"/>
          </a:p>
        </p:txBody>
      </p:sp>
      <p:sp>
        <p:nvSpPr>
          <p:cNvPr id="27" name="stat-card-7"/>
          <p:cNvSpPr/>
          <p:nvPr/>
        </p:nvSpPr>
        <p:spPr>
          <a:xfrm>
            <a:off x="571500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5216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$17.95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Diluted EPS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FY2026 GAAP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Revenue and operating income, FY2021–FY2026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callout"/>
          <p:cNvSpPr/>
          <p:nvPr/>
        </p:nvSpPr>
        <p:spPr>
          <a:xfrm>
            <a:off x="6537960" y="1188720"/>
            <a:ext cx="214884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675120" y="1325880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14.6%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Revenue CAGR, FY2021–FY2026</a:t>
            </a:r>
            <a:endParaRPr lang="en-US" sz="2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17.3%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Operating income CAGR, FY2021–FY2026</a:t>
            </a:r>
            <a:endParaRPr lang="en-US" sz="2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46.8%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FY2026 operating margin (FY2021: 41.6%)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FY2026: double-digit growth amid a capex surge</a:t>
            </a:r>
            <a:endParaRPr lang="en-US" sz="2600" dirty="0"/>
          </a:p>
        </p:txBody>
      </p:sp>
      <p:sp>
        <p:nvSpPr>
          <p:cNvPr id="3" name="bullet-badge-1"/>
          <p:cNvSpPr/>
          <p:nvPr/>
        </p:nvSpPr>
        <p:spPr>
          <a:xfrm>
            <a:off x="457200" y="11887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17.8%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170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growth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rose 17.8% YoY to $331.8B in FY2026, up from $281.7B in FY2025.</a:t>
            </a:r>
            <a:endParaRPr lang="en-US" sz="1600" dirty="0"/>
          </a:p>
        </p:txBody>
      </p:sp>
      <p:sp>
        <p:nvSpPr>
          <p:cNvPr id="6" name="bullet-badge-2"/>
          <p:cNvSpPr/>
          <p:nvPr/>
        </p:nvSpPr>
        <p:spPr>
          <a:xfrm>
            <a:off x="457200" y="23317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20.2%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13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FCF margin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cash flow of $67.0B equals a 20.2% FCF margin, down from 25.4% in FY2025 as investment stepped up.</a:t>
            </a:r>
            <a:endParaRPr lang="en-US" sz="1600" dirty="0"/>
          </a:p>
        </p:txBody>
      </p:sp>
      <p:sp>
        <p:nvSpPr>
          <p:cNvPr id="9" name="bullet-badge-3"/>
          <p:cNvSpPr/>
          <p:nvPr/>
        </p:nvSpPr>
        <p:spPr>
          <a:xfrm>
            <a:off x="457200" y="34747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$115.9B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456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Capex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Capital expenditures climbed 79.6% to $115.9B (34.9% of revenue), driven by datacenter build-out for cloud and AI.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Valuation as of 2026-10-15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($M, except per share)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 (10/15/26 close)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$539.44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$4,006,421M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total debt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$40,294M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cash &amp; short-term investments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($76,843M)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$3,969,872M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$331,839M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free cash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$66,987M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diluted 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multiple-1"/>
          <p:cNvSpPr/>
          <p:nvPr/>
        </p:nvSpPr>
        <p:spPr>
          <a:xfrm>
            <a:off x="5669280" y="109728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80644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30.1x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1097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P/E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$539.44 ÷ $17.95</a:t>
            </a:r>
            <a:endParaRPr lang="en-US" sz="1400" dirty="0"/>
          </a:p>
        </p:txBody>
      </p:sp>
      <p:sp>
        <p:nvSpPr>
          <p:cNvPr id="7" name="multiple-2"/>
          <p:cNvSpPr/>
          <p:nvPr/>
        </p:nvSpPr>
        <p:spPr>
          <a:xfrm>
            <a:off x="5669280" y="219456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0644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12.0x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 / Revenue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$3,969,872M ÷ $331,839M</a:t>
            </a:r>
            <a:endParaRPr lang="en-US" sz="1400" dirty="0"/>
          </a:p>
        </p:txBody>
      </p:sp>
      <p:sp>
        <p:nvSpPr>
          <p:cNvPr id="10" name="multiple-3"/>
          <p:cNvSpPr/>
          <p:nvPr/>
        </p:nvSpPr>
        <p:spPr>
          <a:xfrm>
            <a:off x="5669280" y="329184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0644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59.3x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291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 / FCF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$3,969,872M ÷ $66,987M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Sources and notes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Financial statements: Microsoft Form 10-K for the fiscal year ended June 30, 2026 (SEC XBRL data); FY2021–FY2025 from prior 10-K filings. All periods end June 30.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Share price: Nasdaq closing price on October 15, 2026 ($539.44), unadjusted (Yahoo Finance daily history).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Market cap = share price × 7,427M common shares outstanding as reported in the FY2026 10-K balance sheet data.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Enterprise value = market cap + total debt (current portion $9,227M + long-term $31,067M) − cash &amp; equivalents ($20,935M) − short-term investments ($55,908M); leases excluded.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Free cash flow = cash from operations ($182,935M) − additions to property and equipment ($115,948M). Finance-lease additions not deducted.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Operating margin = operating income ÷ revenue. Growth rates and CAGRs computed from reported revenue and operating income. Chart values in $ billions, rounded to one decimal.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Data compiled October 15, 2026; financials reflect the June 30, 2026 fiscal year-end; share price is as of October 15, 2026.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apshot Slate">
  <a:themeElements>
    <a:clrScheme name="Snapshot Slate">
      <a:dk1>
        <a:srgbClr val="1B2333"/>
      </a:dk1>
      <a:lt1>
        <a:srgbClr val="FFFFFF"/>
      </a:lt1>
      <a:dk2>
        <a:srgbClr val="2B3A55"/>
      </a:dk2>
      <a:lt2>
        <a:srgbClr val="EEF2F6"/>
      </a:lt2>
      <a:accent1>
        <a:srgbClr val="2B3A55"/>
      </a:accent1>
      <a:accent2>
        <a:srgbClr val="1E8C7E"/>
      </a:accent2>
      <a:accent3>
        <a:srgbClr val="E0A526"/>
      </a:accent3>
      <a:accent4>
        <a:srgbClr val="7A8699"/>
      </a:accent4>
      <a:accent5>
        <a:srgbClr val="C9D3DF"/>
      </a:accent5>
      <a:accent6>
        <a:srgbClr val="B4462F"/>
      </a:accent6>
      <a:hlink>
        <a:srgbClr val="1E8C7E"/>
      </a:hlink>
      <a:folHlink>
        <a:srgbClr val="7A8699"/>
      </a:folHlink>
    </a:clrScheme>
    <a:fontScheme name="Snapshot S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(MSFT) Company Snapshot</dc:title>
  <dc:subject>PptxGenJS Presentation</dc:subject>
  <dc:creator>Equity Research</dc:creator>
  <cp:lastModifiedBy>Equity Research</cp:lastModifiedBy>
  <cp:revision>1</cp:revision>
  <dcterms:created xsi:type="dcterms:W3CDTF">2026-10-14T03:58:28Z</dcterms:created>
  <dcterms:modified xsi:type="dcterms:W3CDTF">2026-10-14T03:58:28Z</dcterms:modified>
</cp:coreProperties>
</file>