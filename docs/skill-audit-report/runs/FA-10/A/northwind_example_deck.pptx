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6"/>
    <p:sldId id="258" r:id="rId5"/>
    <p:sldId id="259" r:id="rId4"/>
    <p:sldId id="260" r:id="rId3"/>
    <p:sldId id="261" r:id="rId2"/>
    <p:sldId id="262" r:id="rId13"/>
    <p:sldId id="263" r:id="rId14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</c:v>
                </c:pt>
              </c:strCache>
            </c:strRef>
          </c:tx>
          <c:spPr>
            <a:solidFill>
              <a:srgbClr val="1F2A44"/>
            </a:solidFill>
          </c:spPr>
          <c:cat>
            <c:strRef>
              <c:f>Sheet1!$A$2:$A$7</c:f>
              <c:strCache>
                <c:ptCount val="6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2025E</c:v>
                </c:pt>
                <c:pt idx="4">
                  <c:v>2026E</c:v>
                </c:pt>
                <c:pt idx="5">
                  <c:v>2027E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1210.0</c:v>
                </c:pt>
                <c:pt idx="1">
                  <c:v>1455.0</c:v>
                </c:pt>
                <c:pt idx="2">
                  <c:v>1760.0</c:v>
                </c:pt>
                <c:pt idx="3">
                  <c:v>2085.0</c:v>
                </c:pt>
                <c:pt idx="4">
                  <c:v>2440.0</c:v>
                </c:pt>
                <c:pt idx="5">
                  <c:v>2810.0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Licence</c:v>
                </c:pt>
              </c:strCache>
            </c:strRef>
          </c:tx>
          <c:spPr>
            <a:solidFill>
              <a:srgbClr val="6B7280"/>
            </a:solidFill>
          </c:spPr>
          <c:cat>
            <c:strRef>
              <c:f>Sheet1!$A$2:$A$7</c:f>
              <c:strCache>
                <c:ptCount val="6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2025E</c:v>
                </c:pt>
                <c:pt idx="4">
                  <c:v>2026E</c:v>
                </c:pt>
                <c:pt idx="5">
                  <c:v>2027E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1980.0</c:v>
                </c:pt>
                <c:pt idx="1">
                  <c:v>2010.0</c:v>
                </c:pt>
                <c:pt idx="2">
                  <c:v>2050.0</c:v>
                </c:pt>
                <c:pt idx="3">
                  <c:v>2070.0</c:v>
                </c:pt>
                <c:pt idx="4">
                  <c:v>2060.0</c:v>
                </c:pt>
                <c:pt idx="5">
                  <c:v>2040.0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CA3A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9CED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100">
          <a:solidFill>
            <a:srgbClr val="3A4255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median</c:v>
                </c:pt>
              </c:strCache>
            </c:strRef>
          </c:tx>
          <c:spPr>
            <a:ln w="28575">
              <a:solidFill>
                <a:srgbClr val="1F2A44"/>
              </a:solidFill>
            </a:ln>
          </c:spPr>
          <c:cat>
            <c:strRef>
              <c:f>Sheet1!$A$2:$A$7</c:f>
              <c:strCache>
                <c:ptCount val="6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2025E</c:v>
                </c:pt>
                <c:pt idx="4">
                  <c:v>2026E</c:v>
                </c:pt>
                <c:pt idx="5">
                  <c:v>2027E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19.5</c:v>
                </c:pt>
                <c:pt idx="1">
                  <c:v>20.1</c:v>
                </c:pt>
                <c:pt idx="2">
                  <c:v>21.0</c:v>
                </c:pt>
                <c:pt idx="3">
                  <c:v>21.9</c:v>
                </c:pt>
                <c:pt idx="4">
                  <c:v>22.8</c:v>
                </c:pt>
                <c:pt idx="5">
                  <c:v>23.6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CA3A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C9CED6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rgbClr val="3A4255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rthwind Title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laceholder"/>
          <p:cNvSpPr txBox="1"/>
          <p:nvPr/>
        </p:nvSpPr>
        <p:spPr>
          <a:xfrm>
            <a:off x="457200" y="274320"/>
            <a:ext cx="2743200" cy="411480"/>
          </a:xfrm>
          <a:prstGeom prst="rect">
            <a:avLst/>
          </a:prstGeom>
          <a:noFill/>
          <a:ln w="9525">
            <a:solidFill>
              <a:srgbClr val="C9CED6"/>
            </a:solidFill>
            <a:prstDash val="dash"/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RESEARCH</a:t>
            </a:r>
            <a:endParaRPr lang="en-US" sz="1200" dirty="0"/>
          </a:p>
        </p:txBody>
      </p:sp>
      <p:sp>
        <p:nvSpPr>
          <p:cNvPr id="3" name="Footer Disclaimer"/>
          <p:cNvSpPr txBox="1"/>
          <p:nvPr/>
        </p:nvSpPr>
        <p:spPr>
          <a:xfrm>
            <a:off x="45720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</a:rPr>
              <a:t>For illustrative purposes only. Not investment advice. © Northwind Research. All rights reserved.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2194560"/>
            <a:ext cx="9601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Click to add presentation title</a:t>
            </a:r>
            <a:endParaRPr lang="en-US" sz="44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457200" y="361188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9CED6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C9CED6"/>
                </a:solidFill>
              </a:rPr>
              <a:t>Click to add subtitle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rthwind Section Header">
    <p:bg>
      <p:bgPr>
        <a:solidFill>
          <a:srgbClr val="3A42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laceholder"/>
          <p:cNvSpPr txBox="1"/>
          <p:nvPr/>
        </p:nvSpPr>
        <p:spPr>
          <a:xfrm>
            <a:off x="457200" y="274320"/>
            <a:ext cx="2743200" cy="411480"/>
          </a:xfrm>
          <a:prstGeom prst="rect">
            <a:avLst/>
          </a:prstGeom>
          <a:noFill/>
          <a:ln w="9525">
            <a:solidFill>
              <a:srgbClr val="C9CED6"/>
            </a:solidFill>
            <a:prstDash val="dash"/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RESEARCH</a:t>
            </a:r>
            <a:endParaRPr lang="en-US" sz="1200" dirty="0"/>
          </a:p>
        </p:txBody>
      </p:sp>
      <p:sp>
        <p:nvSpPr>
          <p:cNvPr id="3" name="Footer Disclaimer"/>
          <p:cNvSpPr txBox="1"/>
          <p:nvPr/>
        </p:nvSpPr>
        <p:spPr>
          <a:xfrm>
            <a:off x="45720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</a:rPr>
              <a:t>For illustrative purposes only. Not investment advice. © Northwind Research. All rights reserved.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45720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rgbClr val="C9CED6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b="1" dirty="0">
                <a:solidFill>
                  <a:srgbClr val="C9CED6"/>
                </a:solidFill>
              </a:rPr>
              <a:t>00</a:t>
            </a:r>
            <a:endParaRPr lang="en-US" sz="20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457200" y="260604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Click to add section title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rthwind 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laceholder"/>
          <p:cNvSpPr txBox="1"/>
          <p:nvPr/>
        </p:nvSpPr>
        <p:spPr>
          <a:xfrm>
            <a:off x="457200" y="274320"/>
            <a:ext cx="2743200" cy="411480"/>
          </a:xfrm>
          <a:prstGeom prst="rect">
            <a:avLst/>
          </a:prstGeom>
          <a:noFill/>
          <a:ln w="9525">
            <a:solidFill>
              <a:srgbClr val="9CA3AF"/>
            </a:solidFill>
            <a:prstDash val="dash"/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RESEARCH</a:t>
            </a:r>
            <a:endParaRPr lang="en-US" sz="1200" dirty="0"/>
          </a:p>
        </p:txBody>
      </p:sp>
      <p:sp>
        <p:nvSpPr>
          <p:cNvPr id="3" name="Footer Disclaimer"/>
          <p:cNvSpPr txBox="1"/>
          <p:nvPr/>
        </p:nvSpPr>
        <p:spPr>
          <a:xfrm>
            <a:off x="45720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For illustrative purposes only. Not investment advice. © Northwind Research. All rights reserved.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86868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Click to add title</a:t>
            </a:r>
            <a:endParaRPr lang="en-US" sz="32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457200" y="1874520"/>
            <a:ext cx="11274552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Click to add text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rthwind 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laceholder"/>
          <p:cNvSpPr txBox="1"/>
          <p:nvPr/>
        </p:nvSpPr>
        <p:spPr>
          <a:xfrm>
            <a:off x="457200" y="274320"/>
            <a:ext cx="2743200" cy="411480"/>
          </a:xfrm>
          <a:prstGeom prst="rect">
            <a:avLst/>
          </a:prstGeom>
          <a:noFill/>
          <a:ln w="9525">
            <a:solidFill>
              <a:srgbClr val="9CA3AF"/>
            </a:solidFill>
            <a:prstDash val="dash"/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RESEARCH</a:t>
            </a:r>
            <a:endParaRPr lang="en-US" sz="1200" dirty="0"/>
          </a:p>
        </p:txBody>
      </p:sp>
      <p:sp>
        <p:nvSpPr>
          <p:cNvPr id="3" name="Footer Disclaimer"/>
          <p:cNvSpPr txBox="1"/>
          <p:nvPr/>
        </p:nvSpPr>
        <p:spPr>
          <a:xfrm>
            <a:off x="45720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For illustrative purposes only. Not investment advice. © Northwind Research. All rights reserved.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86868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Click to add title</a:t>
            </a:r>
            <a:endParaRPr lang="en-US" sz="32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457200" y="1874520"/>
            <a:ext cx="5413248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Click to add text</a:t>
            </a:r>
            <a:endParaRPr lang="en-US" sz="16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6318504" y="1874520"/>
            <a:ext cx="5413248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Click to add text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rthwind Title and Char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laceholder"/>
          <p:cNvSpPr txBox="1"/>
          <p:nvPr/>
        </p:nvSpPr>
        <p:spPr>
          <a:xfrm>
            <a:off x="457200" y="274320"/>
            <a:ext cx="2743200" cy="411480"/>
          </a:xfrm>
          <a:prstGeom prst="rect">
            <a:avLst/>
          </a:prstGeom>
          <a:noFill/>
          <a:ln w="9525">
            <a:solidFill>
              <a:srgbClr val="9CA3AF"/>
            </a:solidFill>
            <a:prstDash val="dash"/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RESEARCH</a:t>
            </a:r>
            <a:endParaRPr lang="en-US" sz="1200" dirty="0"/>
          </a:p>
        </p:txBody>
      </p:sp>
      <p:sp>
        <p:nvSpPr>
          <p:cNvPr id="3" name="Footer Disclaimer"/>
          <p:cNvSpPr txBox="1"/>
          <p:nvPr/>
        </p:nvSpPr>
        <p:spPr>
          <a:xfrm>
            <a:off x="45720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For illustrative purposes only. Not investment advice. © Northwind Research. All rights reserved.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86868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Click to add title</a:t>
            </a:r>
            <a:endParaRPr lang="en-US" sz="3200" dirty="0"/>
          </a:p>
        </p:txBody>
      </p:sp>
      <p:sp>
        <p:nvSpPr>
          <p:cNvPr id="5" name="Text 2"/>
          <p:cNvSpPr/>
          <p:nvPr>
            <p:ph idx="103" type="chart" hasCustomPrompt="1"/>
          </p:nvPr>
        </p:nvSpPr>
        <p:spPr>
          <a:xfrm>
            <a:off x="457200" y="1874520"/>
            <a:ext cx="11274552" cy="3749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tx2"/>
                </a:solidFill>
              </a:rPr>
              <a:t>Click icon to add chart</a:t>
            </a:r>
            <a:endParaRPr lang="en-US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457200" y="5760720"/>
            <a:ext cx="11274552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i="1" dirty="0">
                <a:solidFill>
                  <a:srgbClr val="6B7280"/>
                </a:solidFill>
              </a:defRPr>
            </a:lvl1pPr>
          </a:lstStyle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Source: click to add source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rthwind Disclaimer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laceholder"/>
          <p:cNvSpPr txBox="1"/>
          <p:nvPr/>
        </p:nvSpPr>
        <p:spPr>
          <a:xfrm>
            <a:off x="457200" y="274320"/>
            <a:ext cx="2743200" cy="411480"/>
          </a:xfrm>
          <a:prstGeom prst="rect">
            <a:avLst/>
          </a:prstGeom>
          <a:noFill/>
          <a:ln w="9525">
            <a:solidFill>
              <a:srgbClr val="9CA3AF"/>
            </a:solidFill>
            <a:prstDash val="dash"/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RESEARCH</a:t>
            </a:r>
            <a:endParaRPr lang="en-US" sz="1200" dirty="0"/>
          </a:p>
        </p:txBody>
      </p:sp>
      <p:sp>
        <p:nvSpPr>
          <p:cNvPr id="3" name="Footer Disclaimer"/>
          <p:cNvSpPr txBox="1"/>
          <p:nvPr/>
        </p:nvSpPr>
        <p:spPr>
          <a:xfrm>
            <a:off x="45720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For illustrative purposes only. Not investment advice. © Northwind Research. All rights reserved.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86868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Click to add title</a:t>
            </a:r>
            <a:endParaRPr lang="en-US" sz="28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457200" y="1737360"/>
            <a:ext cx="11274552" cy="4389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Click to add disclaimer text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Illustrative Industrial Software Sector: 3Q26 Preview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Sector Update  |  Example deck generated by northwind-ppt-template  |  2026-10-15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Pricing, not volume, is driving the 3Q26 setup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3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chemeClr val="tx2"/>
                </a:solidFill>
              </a:rPr>
              <a:t>Key takeaways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600" b="0" i="0">
                <a:solidFill>
                  <a:schemeClr val="tx2"/>
                </a:solidFill>
              </a:rPr>
              <a:t>Coverage revenue expected +9.4% YoY on a constant-currency basis (illustrative)</a:t>
            </a:r>
          </a:p>
          <a:p>
            <a:pPr marL="685800" indent="-342900" lvl="1">
              <a:spcAft>
                <a:spcPts val="800"/>
              </a:spcAft>
              <a:buSzPct val="100000"/>
              <a:buChar char="•"/>
            </a:pPr>
            <a:r>
              <a:rPr sz="1600" b="0" i="0">
                <a:solidFill>
                  <a:schemeClr val="tx2"/>
                </a:solidFill>
              </a:rPr>
              <a:t>Net price contributes ~6 pts; volume ~3 pts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600" b="0" i="0">
                <a:solidFill>
                  <a:schemeClr val="tx2"/>
                </a:solidFill>
              </a:rPr>
              <a:t>EBIT margin guided to expand 120bp as subscription mix rises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chemeClr val="tx2"/>
                </a:solidFill>
              </a:rPr>
              <a:t>What would change our view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600" b="0" i="0">
                <a:solidFill>
                  <a:schemeClr val="tx2"/>
                </a:solidFill>
              </a:rPr>
              <a:t>Renewal rates falling below 90% would undermine the pricing thesis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600" b="0" i="0">
                <a:solidFill>
                  <a:schemeClr val="tx2"/>
                </a:solidFill>
              </a:rPr>
              <a:t>A capex pause at large manufacturers would hit 1H27 bookings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Coverage Snapshot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Coverage valuation summary (illustrative)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874519"/>
          <a:ext cx="11274552" cy="23042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62072"/>
                <a:gridCol w="1280160"/>
                <a:gridCol w="1554480"/>
                <a:gridCol w="192024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Company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Rating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Price (USD)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Mkt cap (USD m)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EV/Sales 2027E (x)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EBIT margin 2027E (%)</a:t>
                      </a:r>
                    </a:p>
                  </a:txBody>
                  <a:tcPr marL="73152" marR="73152" marT="27432" marB="27432">
                    <a:solidFill>
                      <a:srgbClr val="1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A4255"/>
                          </a:solidFill>
                        </a:rPr>
                        <a:t>Alpha Systems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A4255"/>
                          </a:solidFill>
                        </a:rPr>
                        <a:t>Buy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A4255"/>
                          </a:solidFill>
                        </a:rPr>
                        <a:t>142.50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A4255"/>
                          </a:solidFill>
                        </a:rPr>
                        <a:t>18,420.0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A4255"/>
                          </a:solidFill>
                        </a:rPr>
                        <a:t>6.8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A4255"/>
                          </a:solidFill>
                        </a:rPr>
                        <a:t>27.4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A4255"/>
                          </a:solidFill>
                        </a:rPr>
                        <a:t>Beta Automation</a:t>
                      </a:r>
                    </a:p>
                  </a:txBody>
                  <a:tcPr marL="73152" marR="73152" marT="27432" marB="27432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A4255"/>
                          </a:solidFill>
                        </a:rPr>
                        <a:t>Hold</a:t>
                      </a:r>
                    </a:p>
                  </a:txBody>
                  <a:tcPr marL="73152" marR="73152" marT="27432" marB="27432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A4255"/>
                          </a:solidFill>
                        </a:rPr>
                        <a:t>58.10</a:t>
                      </a:r>
                    </a:p>
                  </a:txBody>
                  <a:tcPr marL="73152" marR="73152" marT="27432" marB="27432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A4255"/>
                          </a:solidFill>
                        </a:rPr>
                        <a:t>7,215.3</a:t>
                      </a:r>
                    </a:p>
                  </a:txBody>
                  <a:tcPr marL="73152" marR="73152" marT="27432" marB="27432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A4255"/>
                          </a:solidFill>
                        </a:rPr>
                        <a:t>3.9</a:t>
                      </a:r>
                    </a:p>
                  </a:txBody>
                  <a:tcPr marL="73152" marR="73152" marT="27432" marB="27432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A4255"/>
                          </a:solidFill>
                        </a:rPr>
                        <a:t>19.8</a:t>
                      </a:r>
                    </a:p>
                  </a:txBody>
                  <a:tcPr marL="73152" marR="73152" marT="27432" marB="27432">
                    <a:solidFill>
                      <a:srgbClr val="EEF0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A4255"/>
                          </a:solidFill>
                        </a:rPr>
                        <a:t>Gamma Analytics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A4255"/>
                          </a:solidFill>
                        </a:rPr>
                        <a:t>Buy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A4255"/>
                          </a:solidFill>
                        </a:rPr>
                        <a:t>211.75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A4255"/>
                          </a:solidFill>
                        </a:rPr>
                        <a:t>24,980.6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A4255"/>
                          </a:solidFill>
                        </a:rPr>
                        <a:t>8.2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A4255"/>
                          </a:solidFill>
                        </a:rPr>
                        <a:t>31.0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A4255"/>
                          </a:solidFill>
                        </a:rPr>
                        <a:t>Delta Controls</a:t>
                      </a:r>
                    </a:p>
                  </a:txBody>
                  <a:tcPr marL="73152" marR="73152" marT="27432" marB="27432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A4255"/>
                          </a:solidFill>
                        </a:rPr>
                        <a:t>Sell</a:t>
                      </a:r>
                    </a:p>
                  </a:txBody>
                  <a:tcPr marL="73152" marR="73152" marT="27432" marB="27432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A4255"/>
                          </a:solidFill>
                        </a:rPr>
                        <a:t>33.40</a:t>
                      </a:r>
                    </a:p>
                  </a:txBody>
                  <a:tcPr marL="73152" marR="73152" marT="27432" marB="27432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A4255"/>
                          </a:solidFill>
                        </a:rPr>
                        <a:t>3,102.9</a:t>
                      </a:r>
                    </a:p>
                  </a:txBody>
                  <a:tcPr marL="73152" marR="73152" marT="27432" marB="27432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A4255"/>
                          </a:solidFill>
                        </a:rPr>
                        <a:t>2.4</a:t>
                      </a:r>
                    </a:p>
                  </a:txBody>
                  <a:tcPr marL="73152" marR="73152" marT="27432" marB="27432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A4255"/>
                          </a:solidFill>
                        </a:rPr>
                        <a:t>14.6</a:t>
                      </a:r>
                    </a:p>
                  </a:txBody>
                  <a:tcPr marL="73152" marR="73152" marT="27432" marB="27432">
                    <a:solidFill>
                      <a:srgbClr val="EEF0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A4255"/>
                          </a:solidFill>
                        </a:rPr>
                        <a:t>Coverage median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A4255"/>
                          </a:solidFill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A4255"/>
                          </a:solidFill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A4255"/>
                          </a:solidFill>
                        </a:rPr>
                        <a:t>12,817.7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A4255"/>
                          </a:solidFill>
                        </a:rPr>
                        <a:t>5.4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A4255"/>
                          </a:solidFill>
                        </a:rPr>
                        <a:t>23.6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57200" y="6108192"/>
            <a:ext cx="9601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Source: Northwind Research estimates. All company names and figures are fictional, for template validation only.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Subscription revenue overtakes licence in 2026E (USD m)</a:t>
            </a:r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03"/>
          </p:nvPr>
        </p:nvGraphicFramePr>
        <p:xfrm>
          <a:off x="457200" y="1874520"/>
          <a:ext cx="11274552" cy="3749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sz="1000" b="0" i="1">
                <a:solidFill>
                  <a:srgbClr val="6B7280"/>
                </a:solidFill>
              </a:rPr>
              <a:t>Source: Northwind Research estimates (illustrative data).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Bull vs. bear: the debate is renewal pricing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3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chemeClr val="tx2"/>
                </a:solidFill>
              </a:rPr>
              <a:t>Bull case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600" b="0" i="0">
                <a:solidFill>
                  <a:schemeClr val="tx2"/>
                </a:solidFill>
              </a:rPr>
              <a:t>Price increases stick; churn stays below 5%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600" b="0" i="0">
                <a:solidFill>
                  <a:schemeClr val="tx2"/>
                </a:solidFill>
              </a:rPr>
              <a:t>AI add-ons lift ARPU by a further 4-6%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600" b="0" i="0">
                <a:solidFill>
                  <a:schemeClr val="tx2"/>
                </a:solidFill>
              </a:rPr>
              <a:t>Margin reaches 30% by 2027E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chemeClr val="tx2"/>
                </a:solidFill>
              </a:rPr>
              <a:t>Bear case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600" b="0" i="0">
                <a:solidFill>
                  <a:schemeClr val="tx2"/>
                </a:solidFill>
              </a:rPr>
              <a:t>Customers push back at renewal; churn rises to 8%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600" b="0" i="0">
                <a:solidFill>
                  <a:schemeClr val="tx2"/>
                </a:solidFill>
              </a:rPr>
              <a:t>Manufacturing capex cycle rolls over in 2027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600" b="0" i="0">
                <a:solidFill>
                  <a:schemeClr val="tx2"/>
                </a:solidFill>
              </a:rPr>
              <a:t>Competition from hyperscaler tools compresses pricing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Coverage EBIT margin expands ~4 pts over the forecast (%)</a:t>
            </a:r>
          </a:p>
        </p:txBody>
      </p:sp>
      <p:graphicFrame>
        <p:nvGraphicFramePr>
          <p:cNvPr id="3" name="Chart Placeholder 2"/>
          <p:cNvGraphicFramePr>
            <a:graphicFrameLocks noGrp="1"/>
          </p:cNvGraphicFramePr>
          <p:nvPr>
            <p:ph type="chart" idx="103"/>
          </p:nvPr>
        </p:nvGraphicFramePr>
        <p:xfrm>
          <a:off x="457200" y="1874520"/>
          <a:ext cx="11274552" cy="3749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sz="1000" b="0" i="1">
                <a:solidFill>
                  <a:srgbClr val="6B7280"/>
                </a:solidFill>
              </a:rPr>
              <a:t>Source: Northwind Research estimates (illustrative data).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Important Disclosures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3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chemeClr val="tx2"/>
                </a:solidFill>
              </a:rPr>
              <a:t>Analyst certification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chemeClr val="tx2"/>
                </a:solidFill>
              </a:rPr>
              <a:t>This is placeholder text for the analyst certification. Replace with the approved Northwind Research certification language before external distribution.</a:t>
            </a:r>
          </a:p>
          <a:p>
            <a:pPr>
              <a:spcAft>
                <a:spcPts val="400"/>
              </a:spcAft>
            </a:pPr>
            <a:r>
              <a:rPr sz="1100" b="1" i="0">
                <a:solidFill>
                  <a:schemeClr val="tx2"/>
                </a:solidFill>
              </a:rPr>
              <a:t>Conflicts of interest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chemeClr val="tx2"/>
                </a:solidFill>
              </a:rPr>
              <a:t>Placeholder text describing conflicts of interest and holdings policies.</a:t>
            </a:r>
          </a:p>
          <a:p>
            <a:pPr>
              <a:spcAft>
                <a:spcPts val="400"/>
              </a:spcAft>
            </a:pPr>
            <a:r>
              <a:rPr sz="1100" b="1" i="0">
                <a:solidFill>
                  <a:schemeClr val="tx2"/>
                </a:solidFill>
              </a:rPr>
              <a:t>Distribution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chemeClr val="tx2"/>
                </a:solidFill>
              </a:rPr>
              <a:t>Placeholder text describing permitted distribution. This example deck uses fictional companies and data and is not investment advice.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rthwind Research">
  <a:themeElements>
    <a:clrScheme name="Northwind Research">
      <a:dk1>
        <a:srgbClr val="1F2A44"/>
      </a:dk1>
      <a:lt1>
        <a:srgbClr val="FFFFFF"/>
      </a:lt1>
      <a:dk2>
        <a:srgbClr val="3A4255"/>
      </a:dk2>
      <a:lt2>
        <a:srgbClr val="EEF0F3"/>
      </a:lt2>
      <a:accent1>
        <a:srgbClr val="1F2A44"/>
      </a:accent1>
      <a:accent2>
        <a:srgbClr val="6B7280"/>
      </a:accent2>
      <a:accent3>
        <a:srgbClr val="9CA3AF"/>
      </a:accent3>
      <a:accent4>
        <a:srgbClr val="4A5A7A"/>
      </a:accent4>
      <a:accent5>
        <a:srgbClr val="C9CED6"/>
      </a:accent5>
      <a:accent6>
        <a:srgbClr val="2E3B5E"/>
      </a:accent6>
      <a:hlink>
        <a:srgbClr val="1F2A44"/>
      </a:hlink>
      <a:folHlink>
        <a:srgbClr val="6B7280"/>
      </a:folHlink>
    </a:clrScheme>
    <a:fontScheme name="Northwind Resear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Northwind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Northwind Research Template</dc:title>
  <dc:subject>PptxGenJS Presentation</dc:subject>
  <dc:creator>Northwind Research</dc:creator>
  <cp:lastModifiedBy>Northwind Research</cp:lastModifiedBy>
  <cp:revision>1</cp:revision>
  <dcterms:created xsi:type="dcterms:W3CDTF">2026-10-14T03:55:14Z</dcterms:created>
  <dcterms:modified xsi:type="dcterms:W3CDTF">2026-10-14T03:55:14Z</dcterms:modified>
</cp:coreProperties>
</file>