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6"/>
    <p:sldId id="258" r:id="rId5"/>
    <p:sldId id="259" r:id="rId4"/>
    <p:sldId id="260" r:id="rId3"/>
    <p:sldId id="261" r:id="rId2"/>
    <p:sldId id="262" r:id="rId13"/>
    <p:sldId id="263" r:id="rId14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Sheet1!$A$2:$A$6</c:f>
              <c:strCache>
                <c:ptCount val="5"/>
                <c:pt idx="0">
                  <c:v>FY2023</c:v>
                </c:pt>
                <c:pt idx="1">
                  <c:v>FY2024</c:v>
                </c:pt>
                <c:pt idx="2">
                  <c:v>FY2025E</c:v>
                </c:pt>
                <c:pt idx="3">
                  <c:v>FY2026E</c:v>
                </c:pt>
                <c:pt idx="4">
                  <c:v>FY2027E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980</c:v>
                </c:pt>
                <c:pt idx="1">
                  <c:v>1112</c:v>
                </c:pt>
                <c:pt idx="2">
                  <c:v>1250</c:v>
                </c:pt>
                <c:pt idx="3">
                  <c:v>1390</c:v>
                </c:pt>
                <c:pt idx="4">
                  <c:v>1540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4A5A7A"/>
            </a:solidFill>
          </c:spPr>
          <c:cat>
            <c:strRef>
              <c:f>Sheet1!$A$2:$A$6</c:f>
              <c:strCache>
                <c:ptCount val="5"/>
                <c:pt idx="0">
                  <c:v>FY2023</c:v>
                </c:pt>
                <c:pt idx="1">
                  <c:v>FY2024</c:v>
                </c:pt>
                <c:pt idx="2">
                  <c:v>FY2025E</c:v>
                </c:pt>
                <c:pt idx="3">
                  <c:v>FY2026E</c:v>
                </c:pt>
                <c:pt idx="4">
                  <c:v>FY2027E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170</c:v>
                </c:pt>
                <c:pt idx="1">
                  <c:v>202</c:v>
                </c:pt>
                <c:pt idx="2">
                  <c:v>245</c:v>
                </c:pt>
                <c:pt idx="3">
                  <c:v>293</c:v>
                </c:pt>
                <c:pt idx="4">
                  <c:v>348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9CED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19456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Click to add presentation title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CED6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C9CED6"/>
                </a:solidFill>
              </a:rPr>
              <a:t>Click to add subtitle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Section Header">
    <p:bg>
      <p:bgPr>
        <a:solidFill>
          <a:srgbClr val="3A42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C9CED6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rgbClr val="C9CED6"/>
                </a:solidFill>
              </a:rPr>
              <a:t>00</a:t>
            </a:r>
            <a:endParaRPr lang="en-US" sz="2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260604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Click to add section title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874520"/>
            <a:ext cx="11274552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874520"/>
            <a:ext cx="541324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318504" y="1874520"/>
            <a:ext cx="541324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 and 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chart" hasCustomPrompt="1"/>
          </p:nvPr>
        </p:nvSpPr>
        <p:spPr>
          <a:xfrm>
            <a:off x="457200" y="1874520"/>
            <a:ext cx="11274552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Click icon to add chart</a:t>
            </a:r>
            <a:endParaRPr lang="en-US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i="1" dirty="0">
                <a:solidFill>
                  <a:srgbClr val="6B7280"/>
                </a:solidFill>
              </a:defRPr>
            </a:lvl1pPr>
          </a:lstStyle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Source: click to add source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Disclaimer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Click to add title</a:t>
            </a:r>
            <a:endParaRPr lang="en-US" sz="2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737360"/>
            <a:ext cx="11274552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Click to add disclaimer text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Example Co.: Initiating at Overweight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Example Co. (EXCO)  |  Initiation of Coverage  |  2026-10-15  |  Illustrative data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Investment Thesis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Margin expansion is under-appreciated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1600" b="1">
                <a:solidFill>
                  <a:schemeClr val="tx1"/>
                </a:solidFill>
              </a:rPr>
              <a:t>Key findings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Revenue grew 12.4% y/y to USD 1,250 million in FY2025E</a:t>
            </a:r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Subscription mix reached 61.0% of revenue, up 4.5 pts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EBITDA margin expands from 18.2% to 22.6% by FY2027E</a:t>
            </a:r>
          </a:p>
          <a:p>
            <a:pPr marL="0" indent="0">
              <a:spcAft>
                <a:spcPts val="800"/>
              </a:spcAft>
              <a:buNone/>
            </a:pPr>
            <a:r>
              <a:rPr sz="1600" b="1">
                <a:solidFill>
                  <a:schemeClr val="tx1"/>
                </a:solidFill>
              </a:rPr>
              <a:t>Recommendation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Overweight, price target USD 85.00 (DCF, 9.0% WACC, 3.0% terminal growth)</a:t>
            </a:r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Implies 24.3% upside to the illustrative price of USD 68.40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Bull vs bear: risk/reward skewed to the upside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1600" b="1">
                <a:solidFill>
                  <a:schemeClr val="tx1"/>
                </a:solidFill>
              </a:rPr>
              <a:t>Bull case: USD 110.00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Enterprise share gains lift growth to 15.0%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Operating leverage drives 25.0% EBITDA margin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Buybacks of USD 300 million p.a.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1600" b="1">
                <a:solidFill>
                  <a:schemeClr val="tx1"/>
                </a:solidFill>
              </a:rPr>
              <a:t>Bear case: USD 55.00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Pricing pressure caps growth at 6.0%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Margins stall at 18.0%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>
                <a:solidFill>
                  <a:schemeClr val="tx2"/>
                </a:solidFill>
              </a:rPr>
              <a:t>Multiple de-rates to 9.0x EV/EBITDA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Revenue and EBITDA (USD millions)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3"/>
          </p:nvPr>
        </p:nvGraphicFramePr>
        <p:xfrm>
          <a:off x="457200" y="1874520"/>
          <a:ext cx="11274552" cy="3749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Source: Illustrative data, Northwind Research estimates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Sector Comparables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Sector comps: Example Co. trades at a discount to peers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74519"/>
          <a:ext cx="1127455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072"/>
                <a:gridCol w="1280160"/>
                <a:gridCol w="1828800"/>
                <a:gridCol w="1828800"/>
                <a:gridCol w="164592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Mkt cap (USD m)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EV/EBITDA FY26E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P/E FY26E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 growth FY26E</a:t>
                      </a:r>
                    </a:p>
                  </a:txBody>
                  <a:tcPr marL="73152" marR="73152"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Example Co.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EXCO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8,450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10.4x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17.8x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11.2%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Peer Alpha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ALPH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15,200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13.1x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22.4x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9.8%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Peer Beta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BETA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6,730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12.0x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20.1x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Peer Gamma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GAMA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21,900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14.6x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24.9x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12.6%</a:t>
                      </a:r>
                    </a:p>
                  </a:txBody>
                  <a:tcPr marL="73152" marR="73152">
                    <a:solidFill>
                      <a:srgbClr val="EEF0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Peer median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15,200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13.1x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22.4x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A4255"/>
                          </a:solidFill>
                          <a:latin typeface="Calibri"/>
                        </a:rPr>
                        <a:t>9.8%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</a:rPr>
              <a:t>Source: Illustrative data, Northwind Research estimates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Important Disclosures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1100" b="1">
                <a:solidFill>
                  <a:schemeClr val="tx1"/>
                </a:solidFill>
              </a:rPr>
              <a:t>Analyst certification</a:t>
            </a:r>
          </a:p>
          <a:p>
            <a:pPr marL="0" indent="0">
              <a:spcAft>
                <a:spcPts val="800"/>
              </a:spcAft>
              <a:buNone/>
            </a:pPr>
            <a:r>
              <a:rPr sz="1100" b="0">
                <a:solidFill>
                  <a:schemeClr val="tx2"/>
                </a:solidFill>
              </a:rPr>
              <a:t>The research analyst(s) named in this report certify that the views expressed accurately reflect their personal views about the subject securities and issuers.</a:t>
            </a:r>
          </a:p>
          <a:p>
            <a:pPr marL="0" indent="0">
              <a:spcAft>
                <a:spcPts val="800"/>
              </a:spcAft>
              <a:buNone/>
            </a:pPr>
            <a:r>
              <a:rPr sz="1100" b="1">
                <a:solidFill>
                  <a:schemeClr val="tx1"/>
                </a:solidFill>
              </a:rPr>
              <a:t>Illustrative content</a:t>
            </a:r>
          </a:p>
          <a:p>
            <a:pPr marL="0" indent="0">
              <a:spcAft>
                <a:spcPts val="800"/>
              </a:spcAft>
              <a:buNone/>
            </a:pPr>
            <a:r>
              <a:rPr sz="1100" b="0">
                <a:solidFill>
                  <a:schemeClr val="tx2"/>
                </a:solidFill>
              </a:rPr>
              <a:t>All company names, figures and estimates in this example deck are fictional and for template validation only. Not investment advice.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wind Research">
  <a:themeElements>
    <a:clrScheme name="Northwind Research">
      <a:dk1>
        <a:srgbClr val="1F2A44"/>
      </a:dk1>
      <a:lt1>
        <a:srgbClr val="FFFFFF"/>
      </a:lt1>
      <a:dk2>
        <a:srgbClr val="3A4255"/>
      </a:dk2>
      <a:lt2>
        <a:srgbClr val="EEF0F3"/>
      </a:lt2>
      <a:accent1>
        <a:srgbClr val="1F2A44"/>
      </a:accent1>
      <a:accent2>
        <a:srgbClr val="6B7280"/>
      </a:accent2>
      <a:accent3>
        <a:srgbClr val="9CA3AF"/>
      </a:accent3>
      <a:accent4>
        <a:srgbClr val="4A5A7A"/>
      </a:accent4>
      <a:accent5>
        <a:srgbClr val="C9CED6"/>
      </a:accent5>
      <a:accent6>
        <a:srgbClr val="2E3B5E"/>
      </a:accent6>
      <a:hlink>
        <a:srgbClr val="1F2A44"/>
      </a:hlink>
      <a:folHlink>
        <a:srgbClr val="6B7280"/>
      </a:folHlink>
    </a:clrScheme>
    <a:fontScheme name="Northwind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Northwind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Research Template</dc:title>
  <dc:subject>PptxGenJS Presentation</dc:subject>
  <dc:creator>Northwind Research</dc:creator>
  <cp:lastModifiedBy>Northwind Research</cp:lastModifiedBy>
  <cp:revision>1</cp:revision>
  <dcterms:created xsi:type="dcterms:W3CDTF">2026-10-14T03:55:14Z</dcterms:created>
  <dcterms:modified xsi:type="dcterms:W3CDTF">2026-10-14T03:55:14Z</dcterms:modified>
</cp:coreProperties>
</file>