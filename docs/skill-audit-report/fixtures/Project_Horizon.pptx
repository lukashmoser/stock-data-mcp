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8226692-2f7b-c7e5-a8d6-c3056fa91259}">
          <p14:sldIdLst>
            <p14:sldId id="256"/>
            <p14:sldId id="257"/>
          </p14:sldIdLst>
        </p14:section>
        <p14:section name="Company profile" id="{634845c3-1444-08c6-2d83-477f76b985c5}">
          <p14:sldIdLst>
            <p14:sldId id="258"/>
            <p14:sldId id="259"/>
          </p14:sldIdLst>
        </p14:section>
        <p14:section name="Valuation" id="{3d7f2adf-f958-0933-1b4a-9b36c0d0ee10}">
          <p14:sldIdLst>
            <p14:sldId id="260"/>
            <p14:sldId id="261"/>
          </p14:sldIdLst>
        </p14:section>
        <p14:section name="Process" id="{85496fce-e1d8-4090-88e1-b0a5522a1fa9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A4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E2A47"/>
                </a:solidFill>
                <a:latin typeface="+mn-lt"/>
              </a:rPr>
              <a:t>Quarterly revenue growth YoY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growth YoY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F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FY26</c:v>
                  </c:pt>
                  <c:pt idx="1">
                    <c:v>Q4 FY26</c:v>
                  </c:pt>
                  <c:pt idx="2">
                    <c:v>Q1 FY27</c:v>
                  </c:pt>
                  <c:pt idx="3">
                    <c:v>Q2 FY27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0.044</c:v>
                </c:pt>
                <c:pt idx="1">
                  <c:v>0.053</c:v>
                </c:pt>
                <c:pt idx="2">
                  <c:v>0.055</c:v>
                </c:pt>
                <c:pt idx="3">
                  <c:v>0.049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100" u="none">
                  <a:solidFill>
                    <a:srgbClr val="1A1F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F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7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A4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E2A47"/>
                </a:solidFill>
                <a:latin typeface="+mn-lt"/>
              </a:rPr>
              <a:t>ZM share price ($)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ZM share price ($)</c:v>
                </c:pt>
              </c:strCache>
            </c:strRef>
          </c:tx>
          <c:spPr>
            <a:solidFill>
              <a:srgbClr val="0E2A47"/>
            </a:solidFill>
            <a:ln w="25400" cap="flat">
              <a:solidFill>
                <a:srgbClr val="0E2A4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E2A47"/>
              </a:solidFill>
              <a:ln w="9525" cap="flat">
                <a:solidFill>
                  <a:srgbClr val="0E2A4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Oct-25</c:v>
                  </c:pt>
                  <c:pt idx="1">
                    <c:v>Nov-25</c:v>
                  </c:pt>
                  <c:pt idx="2">
                    <c:v>Dec-25</c:v>
                  </c:pt>
                  <c:pt idx="3">
                    <c:v>Jan-26</c:v>
                  </c:pt>
                  <c:pt idx="4">
                    <c:v>Feb-26</c:v>
                  </c:pt>
                  <c:pt idx="5">
                    <c:v>Mar-26</c:v>
                  </c:pt>
                  <c:pt idx="6">
                    <c:v>Apr-26</c:v>
                  </c:pt>
                  <c:pt idx="7">
                    <c:v>May-26</c:v>
                  </c:pt>
                  <c:pt idx="8">
                    <c:v>Jun-26</c:v>
                  </c:pt>
                  <c:pt idx="9">
                    <c:v>Jul-26</c:v>
                  </c:pt>
                  <c:pt idx="10">
                    <c:v>Aug-26</c:v>
                  </c:pt>
                  <c:pt idx="11">
                    <c:v>Sep-26</c:v>
                  </c:pt>
                  <c:pt idx="12">
                    <c:v>Oct-26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80.01</c:v>
                </c:pt>
                <c:pt idx="1">
                  <c:v>84.96</c:v>
                </c:pt>
                <c:pt idx="2">
                  <c:v>83.32</c:v>
                </c:pt>
                <c:pt idx="3">
                  <c:v>92.1</c:v>
                </c:pt>
                <c:pt idx="4">
                  <c:v>73.94</c:v>
                </c:pt>
                <c:pt idx="5">
                  <c:v>82.36</c:v>
                </c:pt>
                <c:pt idx="6">
                  <c:v>103.44</c:v>
                </c:pt>
                <c:pt idx="7">
                  <c:v>101.59</c:v>
                </c:pt>
                <c:pt idx="8">
                  <c:v>87.14</c:v>
                </c:pt>
                <c:pt idx="9">
                  <c:v>96.07</c:v>
                </c:pt>
                <c:pt idx="10">
                  <c:v>101.33</c:v>
                </c:pt>
                <c:pt idx="11">
                  <c:v>92.88</c:v>
                </c:pt>
                <c:pt idx="12">
                  <c:v>98.16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20"/>
          <c:min val="60"/>
        </c:scaling>
        <c:delete val="0"/>
        <c:axPos val="l"/>
        <c:majorGridlines>
          <c:spPr>
            <a:ln w="6350" cap="flat">
              <a:solidFill>
                <a:srgbClr val="E1E6ED"/>
              </a:solidFill>
              <a:prstDash val="solid"/>
              <a:round/>
            </a:ln>
          </c:spPr>
        </c:majorGridlines>
        <c:numFmt formatCode="$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A4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E2A47"/>
                </a:solidFill>
                <a:latin typeface="+mn-lt"/>
              </a:rPr>
              <a:t>Implied enterprise value ($M)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EV / LTM FCF (14.0x–18.0x)</c:v>
                  </c:pt>
                  <c:pt idx="1">
                    <c:v>EV / LTM EBITDA (18.0x–24.0x)</c:v>
                  </c:pt>
                  <c:pt idx="2">
                    <c:v>EV / LTM revenue (5.0x–7.0x)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26964</c:v>
                </c:pt>
                <c:pt idx="1">
                  <c:v>24498</c:v>
                </c:pt>
                <c:pt idx="2">
                  <c:v>22470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Implied EV range ($M)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EV / LTM FCF (14.0x–18.0x)</c:v>
                  </c:pt>
                  <c:pt idx="1">
                    <c:v>EV / LTM EBITDA (18.0x–24.0x)</c:v>
                  </c:pt>
                  <c:pt idx="2">
                    <c:v>EV / LTM revenue (5.0x–7.0x)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7704</c:v>
                </c:pt>
                <c:pt idx="1">
                  <c:v>8166</c:v>
                </c:pt>
                <c:pt idx="2">
                  <c:v>8988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F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0"/>
          <c:min val="15000"/>
        </c:scaling>
        <c:delete val="0"/>
        <c:axPos val="b"/>
        <c:majorGridlines>
          <c:spPr>
            <a:ln w="6350" cap="flat">
              <a:solidFill>
                <a:srgbClr val="E1E6ED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Strictly private and confidential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Project Horizon  |  Strictly private and confidential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Project Horizon: Strategic Alternatives for Zoom (ZM)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Discussion materials  |  October 13,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Situation overview: Zoom's growth is accelerating</a:t>
            </a:r>
            <a:endParaRPr lang="en-US" sz="2400" dirty="0"/>
          </a:p>
        </p:txBody>
      </p:sp>
      <p:sp>
        <p:nvSpPr>
          <p:cNvPr id="3" name="num-1"/>
          <p:cNvSpPr/>
          <p:nvPr/>
        </p:nvSpPr>
        <p:spPr>
          <a:xfrm>
            <a:off x="457200" y="120700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0972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Scale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Market cap of $35.8B with net cash of $7,250MM and no funded debt</a:t>
            </a:r>
            <a:endParaRPr lang="en-US" sz="1400" dirty="0"/>
          </a:p>
        </p:txBody>
      </p:sp>
      <p:sp>
        <p:nvSpPr>
          <p:cNvPr id="6" name="num-2"/>
          <p:cNvSpPr/>
          <p:nvPr/>
        </p:nvSpPr>
        <p:spPr>
          <a:xfrm>
            <a:off x="457200" y="202996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9202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Profitability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LTM revenue of $4,494MM at an 85.9% gross margin and $1,316MM of EBITDA</a:t>
            </a:r>
            <a:endParaRPr lang="en-US" sz="1400" dirty="0"/>
          </a:p>
        </p:txBody>
      </p:sp>
      <p:sp>
        <p:nvSpPr>
          <p:cNvPr id="9" name="num-3"/>
          <p:cNvSpPr/>
          <p:nvPr/>
        </p:nvSpPr>
        <p:spPr>
          <a:xfrm>
            <a:off x="457200" y="285292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7432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Capital return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LTM free cash flow of $1,926MM funds buybacks ($1,460MM repurchased over the LTM period)</a:t>
            </a:r>
            <a:endParaRPr lang="en-US" sz="1400" dirty="0"/>
          </a:p>
        </p:txBody>
      </p:sp>
      <p:sp>
        <p:nvSpPr>
          <p:cNvPr id="12" name="num-4"/>
          <p:cNvSpPr/>
          <p:nvPr/>
        </p:nvSpPr>
        <p:spPr>
          <a:xfrm>
            <a:off x="457200" y="367588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5661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Growth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Revenue growth YoY of 5.5% in Q1 FY27 and 4.9% in Q2 FY27</a:t>
            </a:r>
            <a:endParaRPr lang="en-US" sz="1400" dirty="0"/>
          </a:p>
        </p:txBody>
      </p:sp>
      <p:sp>
        <p:nvSpPr>
          <p:cNvPr id="15" name="growth-card"/>
          <p:cNvSpPr/>
          <p:nvPr/>
        </p:nvSpPr>
        <p:spPr>
          <a:xfrm>
            <a:off x="5029200" y="1097280"/>
            <a:ext cx="3657600" cy="3246120"/>
          </a:xfrm>
          <a:prstGeom prst="rect">
            <a:avLst/>
          </a:prstGeom>
          <a:solidFill>
            <a:schemeClr val="bg2"/>
          </a:solidFill>
          <a:ln/>
        </p:spPr>
      </p:sp>
      <p:graphicFrame>
        <p:nvGraphicFramePr>
          <p:cNvPr id="16" name="Chart 0" descr=""/>
          <p:cNvGraphicFramePr/>
          <p:nvPr/>
        </p:nvGraphicFramePr>
        <p:xfrm>
          <a:off x="5120640" y="1188720"/>
          <a:ext cx="34747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Source: Company filings (Form 10-Q for the quarter ended July 31, 2026); market data as of October 13, 2026. LTM = four quarters ended July 31, 2026.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Key financials: cash generative, fortress balance sheet</a:t>
            </a:r>
            <a:endParaRPr lang="en-US" sz="2400" dirty="0"/>
          </a:p>
        </p:txBody>
      </p:sp>
      <p:sp>
        <p:nvSpPr>
          <p:cNvPr id="3" name="kpi-1"/>
          <p:cNvSpPr/>
          <p:nvPr/>
        </p:nvSpPr>
        <p:spPr>
          <a:xfrm>
            <a:off x="457200" y="1051560"/>
            <a:ext cx="1920240" cy="960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097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$4,494MM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LTM revenue</a:t>
            </a:r>
            <a:endParaRPr lang="en-US" sz="1100" dirty="0"/>
          </a:p>
        </p:txBody>
      </p:sp>
      <p:sp>
        <p:nvSpPr>
          <p:cNvPr id="6" name="kpi-2"/>
          <p:cNvSpPr/>
          <p:nvPr/>
        </p:nvSpPr>
        <p:spPr>
          <a:xfrm>
            <a:off x="2560320" y="1051560"/>
            <a:ext cx="1920240" cy="960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670048" y="1097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$1,316MM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670048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LTM EBITDA (29.3% margin)</a:t>
            </a:r>
            <a:endParaRPr lang="en-US" sz="1100" dirty="0"/>
          </a:p>
        </p:txBody>
      </p:sp>
      <p:sp>
        <p:nvSpPr>
          <p:cNvPr id="9" name="kpi-3"/>
          <p:cNvSpPr/>
          <p:nvPr/>
        </p:nvSpPr>
        <p:spPr>
          <a:xfrm>
            <a:off x="4663440" y="1051560"/>
            <a:ext cx="1920240" cy="960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73168" y="1097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$1,926MM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773168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LTM FCF (42.9% margin)</a:t>
            </a:r>
            <a:endParaRPr lang="en-US" sz="1100" dirty="0"/>
          </a:p>
        </p:txBody>
      </p:sp>
      <p:sp>
        <p:nvSpPr>
          <p:cNvPr id="12" name="kpi-4"/>
          <p:cNvSpPr/>
          <p:nvPr/>
        </p:nvSpPr>
        <p:spPr>
          <a:xfrm>
            <a:off x="6766560" y="1051560"/>
            <a:ext cx="1920240" cy="960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76288" y="1097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$7,250MM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876288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Net cash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44805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0584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LTM P&amp;L summary ($MM)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Amount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Margin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</a:rPr>
                        <a:t>Revenue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</a:rPr>
                        <a:t>4,494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</a:rPr>
                        <a:t>Gross profit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</a:rPr>
                        <a:t>3,860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</a:rPr>
                        <a:t>85.9%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</a:rPr>
                        <a:t>Operating income (EBIT)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</a:rPr>
                        <a:t>1,185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</a:rPr>
                        <a:t>26.4%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F2B"/>
                          </a:solidFill>
                        </a:rPr>
                        <a:t>EBITDA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A1F2B"/>
                          </a:solidFill>
                        </a:rPr>
                        <a:t>1,316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A1F2B"/>
                          </a:solidFill>
                        </a:rPr>
                        <a:t>29.3%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</a:rPr>
                        <a:t>Free cash flow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</a:rPr>
                        <a:t>1,926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</a:rPr>
                        <a:t>42.9%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2240280"/>
          <a:ext cx="3474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9728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Net cash build ($MM)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7/31/2026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</a:rPr>
                        <a:t>Cash &amp; cash equivalents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</a:rPr>
                        <a:t>932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</a:rPr>
                        <a:t>Marketable securities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</a:rPr>
                        <a:t>6,138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</a:rPr>
                        <a:t>Less: total debt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F2B"/>
                          </a:solidFill>
                        </a:rPr>
                        <a:t>Net cash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A1F2B"/>
                          </a:solidFill>
                        </a:rPr>
                        <a:t>7,250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Source: Company filings. LTM = four quarters ended July 31, 2026. EBITDA = GAAP operating income + depreciation &amp; amortization. FCF = operating cash flow − capex.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Share price performance: last twelve months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8521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px-1"/>
          <p:cNvSpPr/>
          <p:nvPr/>
        </p:nvSpPr>
        <p:spPr>
          <a:xfrm>
            <a:off x="6446520" y="1051560"/>
            <a:ext cx="2240280" cy="71323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556248" y="105156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$98.16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Current share price</a:t>
            </a:r>
            <a:endParaRPr lang="en-US" sz="2000" dirty="0"/>
          </a:p>
        </p:txBody>
      </p:sp>
      <p:sp>
        <p:nvSpPr>
          <p:cNvPr id="6" name="px-2"/>
          <p:cNvSpPr/>
          <p:nvPr/>
        </p:nvSpPr>
        <p:spPr>
          <a:xfrm>
            <a:off x="6446520" y="1874520"/>
            <a:ext cx="2240280" cy="71323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56248" y="187452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+27.2%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1-year share price return</a:t>
            </a:r>
            <a:endParaRPr lang="en-US" sz="2000" dirty="0"/>
          </a:p>
        </p:txBody>
      </p:sp>
      <p:sp>
        <p:nvSpPr>
          <p:cNvPr id="8" name="px-3"/>
          <p:cNvSpPr/>
          <p:nvPr/>
        </p:nvSpPr>
        <p:spPr>
          <a:xfrm>
            <a:off x="6446520" y="2697480"/>
            <a:ext cx="2240280" cy="71323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556248" y="269748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$114.74 / $70.70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52-week high / low</a:t>
            </a:r>
            <a:endParaRPr lang="en-US" sz="1600" dirty="0"/>
          </a:p>
        </p:txBody>
      </p:sp>
      <p:sp>
        <p:nvSpPr>
          <p:cNvPr id="10" name="px-4"/>
          <p:cNvSpPr/>
          <p:nvPr/>
        </p:nvSpPr>
        <p:spPr>
          <a:xfrm>
            <a:off x="6446520" y="3520440"/>
            <a:ext cx="2240280" cy="71323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56248" y="352044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$35.8B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Market capitalization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Source: Market data, 10/13/2025 – 10/13/2026 (last weekly close of each month). 1-year return vs. 10/13/2025 close ($80.01).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Trading comparables: video and communications peers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43000"/>
                <a:gridCol w="1097280"/>
                <a:gridCol w="1143000"/>
                <a:gridCol w="822960"/>
                <a:gridCol w="822960"/>
                <a:gridCol w="822960"/>
                <a:gridCol w="8229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Market cap ($MM)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EV ($MM)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LTM revenue ($MM)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Gross margin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EBIT margin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EV / LTM rev.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EV / LTM EBIT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B"/>
                          </a:solidFill>
                        </a:rPr>
                        <a:t>Zoom (ZM)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F2B"/>
                          </a:solidFill>
                        </a:rPr>
                        <a:t>35,802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F2B"/>
                          </a:solidFill>
                        </a:rPr>
                        <a:t>28,552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F2B"/>
                          </a:solidFill>
                        </a:rPr>
                        <a:t>4,494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F2B"/>
                          </a:solidFill>
                        </a:rPr>
                        <a:t>85.9%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F2B"/>
                          </a:solidFill>
                        </a:rPr>
                        <a:t>26.4%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F2B"/>
                          </a:solidFill>
                        </a:rPr>
                        <a:t>6.4x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F2B"/>
                          </a:solidFill>
                        </a:rPr>
                        <a:t>24.1x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Microsoft (MSFT)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4,035,413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3,998,864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331,839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67.9%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46.8%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12.1x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25.8x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Alphabet (GOOGL)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4,326,706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4,184,396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445,867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60.9%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33.1%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9.4x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28.3x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Cisco (CSCO)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453,673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467,288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63,325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64.5%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24.3%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7.4x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30.4x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RingCentral (RNG)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6,571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7,580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2,584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71.8%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6.7%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2.9x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</a:rPr>
                        <a:t>43.7x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B"/>
                          </a:solidFill>
                        </a:rPr>
                        <a:t>Peer median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F2B"/>
                          </a:solidFill>
                        </a:rPr>
                        <a:t>66.2%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F2B"/>
                          </a:solidFill>
                        </a:rPr>
                        <a:t>28.7%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F2B"/>
                          </a:solidFill>
                        </a:rPr>
                        <a:t>8.4x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F2B"/>
                          </a:solidFill>
                        </a:rPr>
                        <a:t>29.4x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4" name="takeaway"/>
          <p:cNvSpPr/>
          <p:nvPr/>
        </p:nvSpPr>
        <p:spPr>
          <a:xfrm>
            <a:off x="457200" y="3429000"/>
            <a:ext cx="8229600" cy="777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34290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Zoom's best-in-class margins support a premium to peer multiples, while its net cash position adds balance-sheet optionality for any buyer.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Source: Company filings; market data as of 13-Oct-2026. LTM through each company's latest reported quarter. EV = market cap + debt − cash and short-term investments.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Illustrative valuation range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097280"/>
          <a:ext cx="301752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731520"/>
                <a:gridCol w="11430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Methodology</a:t>
                      </a:r>
                      <a:endParaRPr lang="en-US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 ($M)</a:t>
                      </a:r>
                      <a:endParaRPr lang="en-US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Implied EV ($M)</a:t>
                      </a:r>
                      <a:endParaRPr lang="en-US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</a:rPr>
                        <a:t>EV / LTM revenue</a:t>
                      </a:r>
                      <a:endParaRPr lang="en-US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</a:rPr>
                        <a:t>4,494</a:t>
                      </a:r>
                      <a:endParaRPr lang="en-US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</a:rPr>
                        <a:t>22,470 – 31,458</a:t>
                      </a:r>
                      <a:endParaRPr lang="en-US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</a:rPr>
                        <a:t>EV / LTM EBITDA</a:t>
                      </a:r>
                      <a:endParaRPr lang="en-US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</a:rPr>
                        <a:t>1,361</a:t>
                      </a:r>
                      <a:endParaRPr lang="en-US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</a:rPr>
                        <a:t>24,498 – 32,664</a:t>
                      </a:r>
                      <a:endParaRPr lang="en-US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</a:rPr>
                        <a:t>EV / LTM FCF</a:t>
                      </a:r>
                      <a:endParaRPr lang="en-US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</a:rPr>
                        <a:t>1,926</a:t>
                      </a:r>
                      <a:endParaRPr lang="en-US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</a:rPr>
                        <a:t>26,964 – 34,668</a:t>
                      </a:r>
                      <a:endParaRPr lang="en-US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2B"/>
                          </a:solidFill>
                        </a:rPr>
                        <a:t>Current EV</a:t>
                      </a:r>
                      <a:endParaRPr lang="en-US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1F2B"/>
                          </a:solidFill>
                        </a:rPr>
                        <a:t>28,552</a:t>
                      </a:r>
                      <a:endParaRPr lang="en-US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669280" y="29260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Multiple ranges are illustrative and informed by the trading comparables; precedent transactions to be layered in during the next phase.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Note: Illustrative only. LTM = four quarters ended July 31, 2026. Current EV based on market data as of October 13, 2026.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Potential Buyer Univrese</a:t>
            </a:r>
            <a:endParaRPr lang="en-US" sz="2400" dirty="0"/>
          </a:p>
        </p:txBody>
      </p:sp>
      <p:sp>
        <p:nvSpPr>
          <p:cNvPr id="3" name="buyers-0"/>
          <p:cNvSpPr/>
          <p:nvPr/>
        </p:nvSpPr>
        <p:spPr>
          <a:xfrm>
            <a:off x="457200" y="1051560"/>
            <a:ext cx="4023360" cy="3291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buyers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Microsoft – Teams adjacency; contact center and SMB reach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Alphabet – Workspace and Google Meet consolidation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Cisco – Webex scale and collaboration hardware attach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Salesforce – Customer engagement and Slack integration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Oracle – Cloud infrastructure and enterprise apps cross-sell</a:t>
            </a:r>
            <a:endParaRPr lang="en-US" sz="1300" dirty="0"/>
          </a:p>
        </p:txBody>
      </p:sp>
      <p:sp>
        <p:nvSpPr>
          <p:cNvPr id="6" name="buyers-1"/>
          <p:cNvSpPr/>
          <p:nvPr/>
        </p:nvSpPr>
        <p:spPr>
          <a:xfrm>
            <a:off x="4663440" y="1051560"/>
            <a:ext cx="4023360" cy="3291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4632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sponsors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5448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Thoma Bravo – Deep software take-private experience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Silver Lake – Large-cap technology buyout capacity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Vista Equity Partners – Enterprise software operating playbook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KKR – Scale capital; club-deal capability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Next steps</a:t>
            </a:r>
            <a:endParaRPr lang="en-US" sz="2400" dirty="0"/>
          </a:p>
        </p:txBody>
      </p:sp>
      <p:sp>
        <p:nvSpPr>
          <p:cNvPr id="3" name="timeline"/>
          <p:cNvSpPr/>
          <p:nvPr/>
        </p:nvSpPr>
        <p:spPr>
          <a:xfrm>
            <a:off x="822960" y="1874520"/>
            <a:ext cx="7498080" cy="0"/>
          </a:xfrm>
          <a:prstGeom prst="line">
            <a:avLst/>
          </a:prstGeom>
          <a:noFill/>
          <a:ln w="25400">
            <a:solidFill>
              <a:srgbClr val="C7D3E0"/>
            </a:solidFill>
            <a:prstDash val="solid"/>
          </a:ln>
        </p:spPr>
      </p:sp>
      <p:sp>
        <p:nvSpPr>
          <p:cNvPr id="4" name="step-1"/>
          <p:cNvSpPr/>
          <p:nvPr/>
        </p:nvSpPr>
        <p:spPr>
          <a:xfrm>
            <a:off x="640080" y="169164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2026-10-20</a:t>
            </a:r>
            <a:endParaRPr lang="en-US" sz="1200" dirty="0"/>
          </a:p>
        </p:txBody>
      </p:sp>
      <p:sp>
        <p:nvSpPr>
          <p:cNvPr id="6" name="step-card-1"/>
          <p:cNvSpPr/>
          <p:nvPr/>
        </p:nvSpPr>
        <p:spPr>
          <a:xfrm>
            <a:off x="457200" y="2286000"/>
            <a:ext cx="1920240" cy="1737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2377440"/>
            <a:ext cx="17007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Board discussion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Review strategic alternatives and confirm process objectives</a:t>
            </a:r>
            <a:endParaRPr lang="en-US" sz="1400" dirty="0"/>
          </a:p>
        </p:txBody>
      </p:sp>
      <p:sp>
        <p:nvSpPr>
          <p:cNvPr id="8" name="step-2"/>
          <p:cNvSpPr/>
          <p:nvPr/>
        </p:nvSpPr>
        <p:spPr>
          <a:xfrm>
            <a:off x="2743200" y="169164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560320" y="1188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2026-10-27</a:t>
            </a:r>
            <a:endParaRPr lang="en-US" sz="1200" dirty="0"/>
          </a:p>
        </p:txBody>
      </p:sp>
      <p:sp>
        <p:nvSpPr>
          <p:cNvPr id="10" name="step-card-2"/>
          <p:cNvSpPr/>
          <p:nvPr/>
        </p:nvSpPr>
        <p:spPr>
          <a:xfrm>
            <a:off x="2560320" y="2286000"/>
            <a:ext cx="1920240" cy="1737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70048" y="2377440"/>
            <a:ext cx="17007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Preparation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Finalize buyer list, teaser and confidentiality agreements</a:t>
            </a:r>
            <a:endParaRPr lang="en-US" sz="1400" dirty="0"/>
          </a:p>
        </p:txBody>
      </p:sp>
      <p:sp>
        <p:nvSpPr>
          <p:cNvPr id="12" name="step-3"/>
          <p:cNvSpPr/>
          <p:nvPr/>
        </p:nvSpPr>
        <p:spPr>
          <a:xfrm>
            <a:off x="4846320" y="169164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1188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2026-11-09</a:t>
            </a:r>
            <a:endParaRPr lang="en-US" sz="1200" dirty="0"/>
          </a:p>
        </p:txBody>
      </p:sp>
      <p:sp>
        <p:nvSpPr>
          <p:cNvPr id="14" name="step-card-3"/>
          <p:cNvSpPr/>
          <p:nvPr/>
        </p:nvSpPr>
        <p:spPr>
          <a:xfrm>
            <a:off x="4663440" y="2286000"/>
            <a:ext cx="1920240" cy="1737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73168" y="2377440"/>
            <a:ext cx="17007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Outreach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Launch targeted outreach to strategic and sponsor parties</a:t>
            </a:r>
            <a:endParaRPr lang="en-US" sz="1400" dirty="0"/>
          </a:p>
        </p:txBody>
      </p:sp>
      <p:sp>
        <p:nvSpPr>
          <p:cNvPr id="16" name="step-4"/>
          <p:cNvSpPr/>
          <p:nvPr/>
        </p:nvSpPr>
        <p:spPr>
          <a:xfrm>
            <a:off x="6949440" y="169164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1188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2026-12-07</a:t>
            </a:r>
            <a:endParaRPr lang="en-US" sz="1200" dirty="0"/>
          </a:p>
        </p:txBody>
      </p:sp>
      <p:sp>
        <p:nvSpPr>
          <p:cNvPr id="18" name="step-card-4"/>
          <p:cNvSpPr/>
          <p:nvPr/>
        </p:nvSpPr>
        <p:spPr>
          <a:xfrm>
            <a:off x="6766560" y="2286000"/>
            <a:ext cx="1920240" cy="1737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76288" y="2377440"/>
            <a:ext cx="17007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First-round bids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Receive indications of interest and select second-round parties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rizon">
  <a:themeElements>
    <a:clrScheme name="Horizon">
      <a:dk1>
        <a:srgbClr val="1A1F2B"/>
      </a:dk1>
      <a:lt1>
        <a:srgbClr val="FFFFFF"/>
      </a:lt1>
      <a:dk2>
        <a:srgbClr val="0E2A47"/>
      </a:dk2>
      <a:lt2>
        <a:srgbClr val="F1F4F8"/>
      </a:lt2>
      <a:accent1>
        <a:srgbClr val="0E2A47"/>
      </a:accent1>
      <a:accent2>
        <a:srgbClr val="3E7CB1"/>
      </a:accent2>
      <a:accent3>
        <a:srgbClr val="C8963E"/>
      </a:accent3>
      <a:accent4>
        <a:srgbClr val="6B7787"/>
      </a:accent4>
      <a:accent5>
        <a:srgbClr val="C7D3E0"/>
      </a:accent5>
      <a:accent6>
        <a:srgbClr val="8C3B3B"/>
      </a:accent6>
      <a:hlink>
        <a:srgbClr val="3E7CB1"/>
      </a:hlink>
      <a:folHlink>
        <a:srgbClr val="6B7787"/>
      </a:folHlink>
    </a:clrScheme>
    <a:fontScheme name="Horiz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Horizon: Strategic Alternatives for Zoom (ZM)</dc:title>
  <dc:subject>PptxGenJS Presentation</dc:subject>
  <dc:creator>Technology M&amp;A Group</dc:creator>
  <cp:lastModifiedBy>Technology M&amp;A Group</cp:lastModifiedBy>
  <cp:revision>1</cp:revision>
  <dcterms:created xsi:type="dcterms:W3CDTF">2026-10-14T04:02:18Z</dcterms:created>
  <dcterms:modified xsi:type="dcterms:W3CDTF">2026-10-14T04:02:18Z</dcterms:modified>
</cp:coreProperties>
</file>